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36850" y="1924685"/>
            <a:ext cx="560260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241" y="560146"/>
            <a:ext cx="1057338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52525"/>
                </a:solidFill>
                <a:latin typeface="华文中宋" panose="02010600040101010101" charset="-122"/>
                <a:cs typeface="华文中宋" panose="02010600040101010101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1534794"/>
            <a:ext cx="10114280" cy="3343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895600" y="2362200"/>
            <a:ext cx="56026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昇腾全栈</a:t>
            </a:r>
            <a:r>
              <a:rPr lang="en-US" altLang="zh-CN" sz="44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Al</a:t>
            </a:r>
            <a:r>
              <a:rPr lang="zh-CN" altLang="en-US" sz="44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软硬件平台</a:t>
            </a:r>
            <a:endParaRPr lang="zh-CN" altLang="en-US" sz="4400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6379" y="3622675"/>
            <a:ext cx="285496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华文中宋" panose="02010600040101010101" charset="-122"/>
                <a:cs typeface="华文中宋" panose="02010600040101010101" charset="-122"/>
              </a:rPr>
              <a:t>--</a:t>
            </a:r>
            <a:r>
              <a:rPr sz="2800" spc="-25" dirty="0">
                <a:latin typeface="华文中宋" panose="02010600040101010101" charset="-122"/>
                <a:cs typeface="华文中宋" panose="02010600040101010101" charset="-122"/>
              </a:rPr>
              <a:t>Mindspore</a:t>
            </a:r>
            <a:r>
              <a:rPr sz="2800" spc="-40" dirty="0">
                <a:latin typeface="华文中宋" panose="02010600040101010101" charset="-122"/>
                <a:cs typeface="华文中宋" panose="02010600040101010101" charset="-122"/>
              </a:rPr>
              <a:t>实践</a:t>
            </a:r>
            <a:endParaRPr sz="28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98480" y="0"/>
            <a:ext cx="1283207" cy="1283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" y="522731"/>
            <a:ext cx="11330940" cy="5231765"/>
            <a:chOff x="281940" y="522731"/>
            <a:chExt cx="11330940" cy="52317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1940" y="522731"/>
              <a:ext cx="11330940" cy="523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47215" y="2138679"/>
              <a:ext cx="2345690" cy="2337435"/>
            </a:xfrm>
            <a:custGeom>
              <a:avLst/>
              <a:gdLst/>
              <a:ahLst/>
              <a:cxnLst/>
              <a:rect l="l" t="t" r="r" b="b"/>
              <a:pathLst>
                <a:path w="2345690" h="2337435">
                  <a:moveTo>
                    <a:pt x="1507490" y="0"/>
                  </a:moveTo>
                  <a:lnTo>
                    <a:pt x="1494790" y="0"/>
                  </a:lnTo>
                  <a:lnTo>
                    <a:pt x="1494790" y="12700"/>
                  </a:lnTo>
                  <a:lnTo>
                    <a:pt x="1494790" y="466090"/>
                  </a:lnTo>
                  <a:lnTo>
                    <a:pt x="12700" y="466090"/>
                  </a:lnTo>
                  <a:lnTo>
                    <a:pt x="12700" y="12700"/>
                  </a:lnTo>
                  <a:lnTo>
                    <a:pt x="1494790" y="12700"/>
                  </a:lnTo>
                  <a:lnTo>
                    <a:pt x="1494790" y="0"/>
                  </a:lnTo>
                  <a:lnTo>
                    <a:pt x="0" y="0"/>
                  </a:lnTo>
                  <a:lnTo>
                    <a:pt x="0" y="478790"/>
                  </a:lnTo>
                  <a:lnTo>
                    <a:pt x="1507490" y="478790"/>
                  </a:lnTo>
                  <a:lnTo>
                    <a:pt x="1507490" y="472440"/>
                  </a:lnTo>
                  <a:lnTo>
                    <a:pt x="1507490" y="466090"/>
                  </a:lnTo>
                  <a:lnTo>
                    <a:pt x="1507490" y="12700"/>
                  </a:lnTo>
                  <a:lnTo>
                    <a:pt x="1507490" y="6350"/>
                  </a:lnTo>
                  <a:lnTo>
                    <a:pt x="1507490" y="0"/>
                  </a:lnTo>
                  <a:close/>
                </a:path>
                <a:path w="2345690" h="2337435">
                  <a:moveTo>
                    <a:pt x="2345690" y="1720850"/>
                  </a:moveTo>
                  <a:lnTo>
                    <a:pt x="2332990" y="1720850"/>
                  </a:lnTo>
                  <a:lnTo>
                    <a:pt x="2332990" y="1733550"/>
                  </a:lnTo>
                  <a:lnTo>
                    <a:pt x="2332990" y="2324735"/>
                  </a:lnTo>
                  <a:lnTo>
                    <a:pt x="12700" y="2324735"/>
                  </a:lnTo>
                  <a:lnTo>
                    <a:pt x="12700" y="1733550"/>
                  </a:lnTo>
                  <a:lnTo>
                    <a:pt x="2332990" y="1733550"/>
                  </a:lnTo>
                  <a:lnTo>
                    <a:pt x="2332990" y="1720850"/>
                  </a:lnTo>
                  <a:lnTo>
                    <a:pt x="0" y="1720850"/>
                  </a:lnTo>
                  <a:lnTo>
                    <a:pt x="0" y="2337435"/>
                  </a:lnTo>
                  <a:lnTo>
                    <a:pt x="2345690" y="2337435"/>
                  </a:lnTo>
                  <a:lnTo>
                    <a:pt x="2345690" y="2331085"/>
                  </a:lnTo>
                  <a:lnTo>
                    <a:pt x="2345690" y="2324735"/>
                  </a:lnTo>
                  <a:lnTo>
                    <a:pt x="2345690" y="1733550"/>
                  </a:lnTo>
                  <a:lnTo>
                    <a:pt x="2345690" y="1727200"/>
                  </a:lnTo>
                  <a:lnTo>
                    <a:pt x="2345690" y="17208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351790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实验介绍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644" y="1064386"/>
            <a:ext cx="10440035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前馈神经网络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是一种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最简单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的神经网络，各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神经元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分层排列。每个神经元只与前一层的神经元相连。接收前一层的输出，并输出给下一层，各层间没有反馈。是目前应用最广泛发展最迅速的人工神经网络之一。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20320" indent="457200" algn="just">
              <a:lnSpc>
                <a:spcPct val="150000"/>
              </a:lnSpc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本次实验主要专注于理解前馈神经网络(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Fully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Connected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Neural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Network</a:t>
            </a:r>
            <a:r>
              <a:rPr sz="2000" spc="-20" dirty="0">
                <a:latin typeface="华文中宋" panose="02010600040101010101" charset="-122"/>
                <a:cs typeface="华文中宋" panose="02010600040101010101" charset="-122"/>
              </a:rPr>
              <a:t>) 原理，基于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b="1" spc="-10" dirty="0">
                <a:latin typeface="华文中宋" panose="02010600040101010101" charset="-122"/>
                <a:cs typeface="华文中宋" panose="02010600040101010101" charset="-122"/>
              </a:rPr>
              <a:t>Mindspore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框架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，利用网络实现Fashion-Mnist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图像分类</a:t>
            </a:r>
            <a:r>
              <a:rPr sz="2000" spc="-20" dirty="0">
                <a:latin typeface="华文中宋" panose="02010600040101010101" charset="-122"/>
                <a:cs typeface="华文中宋" panose="02010600040101010101" charset="-122"/>
              </a:rPr>
              <a:t>实验任务。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latin typeface="华文中宋" panose="02010600040101010101" charset="-122"/>
                <a:cs typeface="华文中宋" panose="02010600040101010101" charset="-122"/>
              </a:rPr>
              <a:t>目的：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掌握如何使用MindSpore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进行简单前馈神经网络的开发。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了解如何使用MindSpore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进行简单图片分类任务的训练。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了解如何使用MindSpore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进行简单图片分类任务的测试和预测。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351790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预备知识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9155" y="1020572"/>
            <a:ext cx="1044575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前馈神经网络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(Feedforward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neural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network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, 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FNN)，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简称前馈网络,是人工神经网络的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一种。前馈神经网络采用一种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单向多层结构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，如下图所示。图中每一个圆圈代表一个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神经元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，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每一层包含若干个神经元。在此种神经网络中，各神经元可以接收前一层神经元的信号，产生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输出到下一层。第0层叫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输入层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，最后一层叫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输出层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，其他中间层叫做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隐含层</a:t>
            </a:r>
            <a:r>
              <a:rPr sz="2000" spc="-20" dirty="0">
                <a:latin typeface="华文中宋" panose="02010600040101010101" charset="-122"/>
                <a:cs typeface="华文中宋" panose="02010600040101010101" charset="-122"/>
              </a:rPr>
              <a:t>(或隐藏层、隐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层)。隐层可以是一层，也可以是多层。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84264" y="3527716"/>
            <a:ext cx="5340677" cy="2858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969" y="212852"/>
            <a:ext cx="10463530" cy="1343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2000" b="0" spc="-10" dirty="0" err="1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网络中的每一个神经元都完成了一次计算工作,如下图所示。接受</a:t>
            </a:r>
            <a:r>
              <a:rPr sz="2000" spc="-5" dirty="0" err="1">
                <a:solidFill>
                  <a:srgbClr val="000000"/>
                </a:solidFill>
              </a:rPr>
              <a:t>高维的输入</a:t>
            </a:r>
            <a:r>
              <a:rPr sz="2000" spc="-5" dirty="0">
                <a:solidFill>
                  <a:srgbClr val="000000"/>
                </a:solidFill>
              </a:rPr>
              <a:t>(</a:t>
            </a:r>
            <a:r>
              <a:rPr sz="2000" spc="-10" dirty="0">
                <a:solidFill>
                  <a:srgbClr val="000000"/>
                </a:solidFill>
              </a:rPr>
              <a:t>x1,x2...xn)</a:t>
            </a:r>
            <a:r>
              <a:rPr sz="2000" b="0" spc="-10" dirty="0" err="1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与同维度的</a:t>
            </a:r>
            <a:r>
              <a:rPr sz="2000" spc="-5" dirty="0" err="1">
                <a:solidFill>
                  <a:srgbClr val="000000"/>
                </a:solidFill>
              </a:rPr>
              <a:t>参数</a:t>
            </a:r>
            <a:r>
              <a:rPr sz="2000" spc="-5" dirty="0">
                <a:solidFill>
                  <a:srgbClr val="000000"/>
                </a:solidFill>
              </a:rPr>
              <a:t>(</a:t>
            </a:r>
            <a:r>
              <a:rPr sz="2000" spc="-10" dirty="0">
                <a:solidFill>
                  <a:srgbClr val="000000"/>
                </a:solidFill>
              </a:rPr>
              <a:t>w1,w2...wn)</a:t>
            </a:r>
            <a:r>
              <a:rPr sz="20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对应</a:t>
            </a:r>
            <a:r>
              <a:rPr sz="2000" dirty="0">
                <a:solidFill>
                  <a:srgbClr val="000000"/>
                </a:solidFill>
              </a:rPr>
              <a:t>相乘，累加</a:t>
            </a:r>
            <a:r>
              <a:rPr sz="20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后，经过</a:t>
            </a:r>
            <a:r>
              <a:rPr sz="2000" dirty="0">
                <a:solidFill>
                  <a:srgbClr val="000000"/>
                </a:solidFill>
              </a:rPr>
              <a:t>激活函数</a:t>
            </a:r>
            <a:r>
              <a:rPr sz="20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得到该神经元</a:t>
            </a:r>
            <a:r>
              <a:rPr sz="2000" b="0" spc="-15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的输出，传递至下一层神经元。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38728" y="1729133"/>
            <a:ext cx="4192858" cy="26087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2969" y="4465447"/>
            <a:ext cx="1044003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神经网络中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输入数据的信息是沿着正向传播的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，而预测结果和标签的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误差则是通过反向 传播的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，在完成反向传播后就可以对所有参数进行更新。</a:t>
            </a:r>
            <a:r>
              <a:rPr sz="2000" spc="-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这个阶段也就是训练神经网络的过程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。网络在建立时往往会随机生成所有参数。可想而知，此时的参数并不是理想参数，需要 通过调整参数来达到我们想要的理想效果。这就需要训练，或者说反向传播更新参数来达到。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00" y="276986"/>
            <a:ext cx="1130998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57200">
              <a:lnSpc>
                <a:spcPct val="150000"/>
              </a:lnSpc>
              <a:spcBef>
                <a:spcPts val="100"/>
              </a:spcBef>
            </a:pPr>
            <a:r>
              <a:rPr sz="20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当第一个样本输入刚刚初始化的网络，会得到一个输出值</a:t>
            </a:r>
            <a:r>
              <a:rPr sz="2000" b="0" spc="-55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，而对于该样本，我们知道他本该得</a:t>
            </a:r>
            <a:r>
              <a:rPr sz="2000" b="0" spc="-1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到输出值</a:t>
            </a:r>
            <a:r>
              <a:rPr sz="2000" b="0" spc="-5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,因此，通过下面的</a:t>
            </a:r>
            <a:r>
              <a:rPr sz="2000" dirty="0">
                <a:solidFill>
                  <a:srgbClr val="000000"/>
                </a:solidFill>
              </a:rPr>
              <a:t>损失函数</a:t>
            </a:r>
            <a:r>
              <a:rPr sz="2000" b="0" spc="-5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，我们可以得出这个样本的损失值。当然，这只是一种损失函</a:t>
            </a:r>
            <a:r>
              <a:rPr sz="2000" b="0" spc="-15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数:二次代价函数。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09722" y="3244520"/>
            <a:ext cx="4223103" cy="35418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7344" y="1528860"/>
            <a:ext cx="2027067" cy="6484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9400" y="2146426"/>
            <a:ext cx="11408410" cy="8816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然后，就可以利用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梯度下降法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对网络参数进行更新。</a:t>
            </a:r>
            <a:r>
              <a:rPr sz="2000" u="sng" spc="-15" dirty="0">
                <a:latin typeface="华文中宋" panose="02010600040101010101" charset="-122"/>
                <a:cs typeface="华文中宋" panose="02010600040101010101" charset="-122"/>
              </a:rPr>
              <a:t>梯度下降法的思想是让损失函数沿着负梯度的方向进行搜索，不断迭代更新参数,最终使得损失值最小化。</a:t>
            </a:r>
            <a:endParaRPr sz="2000" u="sng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226694"/>
            <a:ext cx="2058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数据集介绍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644" y="678815"/>
            <a:ext cx="1025207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Fashion-MNIST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是一个替代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MNIST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手写数字集的图像数据集。其涵盖了来自</a:t>
            </a:r>
            <a:r>
              <a:rPr sz="18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10</a:t>
            </a:r>
            <a:r>
              <a:rPr sz="180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种类别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的共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7</a:t>
            </a:r>
            <a:r>
              <a:rPr sz="1800" spc="-25" dirty="0">
                <a:latin typeface="华文中宋" panose="02010600040101010101" charset="-122"/>
                <a:cs typeface="华文中宋" panose="02010600040101010101" charset="-122"/>
              </a:rPr>
              <a:t>万个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不同商品的正面图片。包括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60000/10000</a:t>
            </a:r>
            <a:r>
              <a:rPr sz="1800" spc="-5" dirty="0">
                <a:latin typeface="华文中宋" panose="02010600040101010101" charset="-122"/>
                <a:cs typeface="华文中宋" panose="02010600040101010101" charset="-122"/>
              </a:rPr>
              <a:t>的训练测试数据划分，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28x28x1的灰度图片。</a:t>
            </a:r>
            <a:endParaRPr sz="18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46355" indent="457200">
              <a:lnSpc>
                <a:spcPct val="150000"/>
              </a:lnSpc>
            </a:pP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经典的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MNIST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数据集包含了大量的手写数字。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MNIST</a:t>
            </a:r>
            <a:r>
              <a:rPr sz="1800" spc="-5" dirty="0">
                <a:latin typeface="华文中宋" panose="02010600040101010101" charset="-122"/>
                <a:cs typeface="华文中宋" panose="02010600040101010101" charset="-122"/>
              </a:rPr>
              <a:t>数据集非常简单，很多深度学习算法在测试</a:t>
            </a:r>
            <a:r>
              <a:rPr sz="1800" dirty="0">
                <a:latin typeface="华文中宋" panose="02010600040101010101" charset="-122"/>
                <a:cs typeface="华文中宋" panose="02010600040101010101" charset="-122"/>
              </a:rPr>
              <a:t>集上的准确率已经达到</a:t>
            </a:r>
            <a:r>
              <a:rPr sz="1800" spc="-10" dirty="0">
                <a:latin typeface="华文中宋" panose="02010600040101010101" charset="-122"/>
                <a:cs typeface="华文中宋" panose="02010600040101010101" charset="-122"/>
              </a:rPr>
              <a:t>99.6</a:t>
            </a:r>
            <a:r>
              <a:rPr sz="1800" spc="-30" dirty="0">
                <a:latin typeface="华文中宋" panose="02010600040101010101" charset="-122"/>
                <a:cs typeface="华文中宋" panose="02010600040101010101" charset="-122"/>
              </a:rPr>
              <a:t>%。</a:t>
            </a:r>
            <a:endParaRPr sz="18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4699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华文中宋" panose="02010600040101010101" charset="-122"/>
                <a:cs typeface="华文中宋" panose="02010600040101010101" charset="-122"/>
              </a:rPr>
              <a:t>将脚本和数据集组织为如下形式：</a:t>
            </a:r>
            <a:endParaRPr sz="1800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88719" y="3078479"/>
            <a:ext cx="4514087" cy="29032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6584" y="3488435"/>
            <a:ext cx="4721352" cy="22844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226694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实验环境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50707" y="1688592"/>
            <a:ext cx="4626344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>
                <a:latin typeface="微软雅黑" panose="020B0503020204020204" charset="-122"/>
                <a:cs typeface="微软雅黑" panose="020B0503020204020204" charset="-122"/>
              </a:rPr>
              <a:t>Miniconda/Anaconda</a:t>
            </a:r>
            <a:endParaRPr spc="27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241" y="1470711"/>
            <a:ext cx="10714355" cy="474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33045" indent="-228600">
              <a:lnSpc>
                <a:spcPct val="150000"/>
              </a:lnSpc>
              <a:spcBef>
                <a:spcPts val="10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14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400" spc="135" dirty="0">
                <a:latin typeface="华文中宋" panose="02010600040101010101" charset="-122"/>
                <a:cs typeface="华文中宋" panose="02010600040101010101" charset="-122"/>
              </a:rPr>
              <a:t> 是一个开源的</a:t>
            </a:r>
            <a:r>
              <a:rPr sz="2400" b="1" spc="130" dirty="0">
                <a:latin typeface="华文中宋" panose="02010600040101010101" charset="-122"/>
                <a:cs typeface="华文中宋" panose="02010600040101010101" charset="-122"/>
              </a:rPr>
              <a:t>软件包管理系统和环境管理系统</a:t>
            </a:r>
            <a:r>
              <a:rPr sz="2400" spc="125" dirty="0">
                <a:latin typeface="华文中宋" panose="02010600040101010101" charset="-122"/>
                <a:cs typeface="华文中宋" panose="02010600040101010101" charset="-122"/>
              </a:rPr>
              <a:t>，用于安装多个版</a:t>
            </a:r>
            <a:r>
              <a:rPr sz="2400" spc="140" dirty="0">
                <a:latin typeface="华文中宋" panose="02010600040101010101" charset="-122"/>
                <a:cs typeface="华文中宋" panose="02010600040101010101" charset="-122"/>
              </a:rPr>
              <a:t>本的软件包及其依赖关系，并在它们之间轻松切换。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  <a:p>
            <a:pPr marL="241300" marR="5080" indent="-228600">
              <a:lnSpc>
                <a:spcPct val="150000"/>
              </a:lnSpc>
              <a:spcBef>
                <a:spcPts val="100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14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 是为 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Python</a:t>
            </a: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 程序创建的，适用于 </a:t>
            </a:r>
            <a:r>
              <a:rPr sz="2400" spc="130" dirty="0">
                <a:latin typeface="华文中宋" panose="02010600040101010101" charset="-122"/>
                <a:cs typeface="华文中宋" panose="02010600040101010101" charset="-122"/>
              </a:rPr>
              <a:t>Linux，OSX</a:t>
            </a: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 和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Windows，</a:t>
            </a:r>
            <a:r>
              <a:rPr sz="2400" spc="130" dirty="0">
                <a:latin typeface="华文中宋" panose="02010600040101010101" charset="-122"/>
                <a:cs typeface="华文中宋" panose="02010600040101010101" charset="-122"/>
              </a:rPr>
              <a:t>也可以打包和分发其他软件。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  <a:p>
            <a:pPr marL="241300" indent="-228600">
              <a:lnSpc>
                <a:spcPct val="100000"/>
              </a:lnSpc>
              <a:spcBef>
                <a:spcPts val="2440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400" spc="150" dirty="0">
                <a:latin typeface="华文中宋" panose="02010600040101010101" charset="-122"/>
                <a:cs typeface="华文中宋" panose="02010600040101010101" charset="-122"/>
              </a:rPr>
              <a:t>最流行的 </a:t>
            </a:r>
            <a:r>
              <a:rPr sz="2400" spc="120" dirty="0">
                <a:latin typeface="华文中宋" panose="02010600040101010101" charset="-122"/>
                <a:cs typeface="华文中宋" panose="02010600040101010101" charset="-122"/>
              </a:rPr>
              <a:t>Python</a:t>
            </a:r>
            <a:r>
              <a:rPr sz="2400" spc="135" dirty="0">
                <a:latin typeface="华文中宋" panose="02010600040101010101" charset="-122"/>
                <a:cs typeface="华文中宋" panose="02010600040101010101" charset="-122"/>
              </a:rPr>
              <a:t> 环境管理工具。</a:t>
            </a:r>
            <a:endParaRPr sz="2400">
              <a:latin typeface="华文中宋" panose="02010600040101010101" charset="-122"/>
              <a:cs typeface="华文中宋" panose="02010600040101010101" charset="-122"/>
            </a:endParaRPr>
          </a:p>
          <a:p>
            <a:pPr marL="1148715" marR="1033780" algn="just">
              <a:lnSpc>
                <a:spcPct val="150000"/>
              </a:lnSpc>
              <a:spcBef>
                <a:spcPts val="2735"/>
              </a:spcBef>
            </a:pPr>
            <a:r>
              <a:rPr sz="2000" spc="-2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总之， </a:t>
            </a:r>
            <a:r>
              <a:rPr sz="2000" spc="18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Anaconda是一个非常强大的P</a:t>
            </a:r>
            <a:r>
              <a:rPr sz="2000" spc="18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ython</a:t>
            </a:r>
            <a:r>
              <a:rPr sz="2000" spc="9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发行版， 它能够大大简化</a:t>
            </a:r>
            <a:r>
              <a:rPr sz="200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 Python的安装和管理，提高开发者的工作效率。对于数据科学工作者来说， </a:t>
            </a:r>
            <a:r>
              <a:rPr sz="2000" spc="-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Anaconda更是必不可少的工具之一。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安装</a:t>
            </a:r>
            <a:r>
              <a:rPr spc="235" dirty="0"/>
              <a:t>mindspore</a:t>
            </a:r>
            <a:endParaRPr spc="235" dirty="0"/>
          </a:p>
        </p:txBody>
      </p:sp>
      <p:sp>
        <p:nvSpPr>
          <p:cNvPr id="3" name="object 3"/>
          <p:cNvSpPr txBox="1"/>
          <p:nvPr/>
        </p:nvSpPr>
        <p:spPr>
          <a:xfrm>
            <a:off x="915035" y="1681162"/>
            <a:ext cx="7099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●"/>
              <a:tabLst>
                <a:tab pos="241300" algn="l"/>
              </a:tabLst>
            </a:pPr>
            <a:r>
              <a:rPr sz="2400" spc="130" dirty="0">
                <a:latin typeface="Arial" panose="020B0604020202020204"/>
                <a:cs typeface="Arial" panose="020B0604020202020204"/>
              </a:rPr>
              <a:t>mindspore</a:t>
            </a:r>
            <a:r>
              <a:rPr sz="2400" spc="130" dirty="0">
                <a:solidFill>
                  <a:srgbClr val="585858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u="heavy" spc="13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 panose="020B0604020202020204"/>
                <a:cs typeface="Arial" panose="020B0604020202020204"/>
              </a:rPr>
              <a:t>https://www.mindspore.cn/install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83563" y="2255520"/>
            <a:ext cx="8534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安装</a:t>
            </a:r>
            <a:r>
              <a:rPr spc="235" dirty="0"/>
              <a:t>mindspore</a:t>
            </a:r>
            <a:endParaRPr spc="235" dirty="0"/>
          </a:p>
        </p:txBody>
      </p:sp>
      <p:sp>
        <p:nvSpPr>
          <p:cNvPr id="3" name="object 3"/>
          <p:cNvSpPr txBox="1"/>
          <p:nvPr/>
        </p:nvSpPr>
        <p:spPr>
          <a:xfrm>
            <a:off x="685241" y="1489253"/>
            <a:ext cx="10760075" cy="265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30000"/>
              </a:lnSpc>
              <a:spcBef>
                <a:spcPts val="95"/>
              </a:spcBef>
              <a:buFont typeface="Arial" panose="020B0604020202020204"/>
              <a:buChar char="●"/>
              <a:tabLst>
                <a:tab pos="241300" algn="l"/>
              </a:tabLst>
            </a:pPr>
            <a:r>
              <a:rPr sz="2000" spc="135" dirty="0">
                <a:latin typeface="华文中宋" panose="02010600040101010101" charset="-122"/>
                <a:cs typeface="华文中宋" panose="02010600040101010101" charset="-122"/>
              </a:rPr>
              <a:t>安装命令：</a:t>
            </a:r>
            <a:r>
              <a:rPr sz="2000" b="1" spc="105" dirty="0">
                <a:latin typeface="华文中宋" panose="02010600040101010101" charset="-122"/>
                <a:cs typeface="华文中宋" panose="02010600040101010101" charset="-122"/>
              </a:rPr>
              <a:t>pip</a:t>
            </a:r>
            <a:r>
              <a:rPr sz="2000" b="1" spc="32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20" dirty="0">
                <a:latin typeface="华文中宋" panose="02010600040101010101" charset="-122"/>
                <a:cs typeface="华文中宋" panose="02010600040101010101" charset="-122"/>
              </a:rPr>
              <a:t>install</a:t>
            </a:r>
            <a:r>
              <a:rPr sz="2000" spc="32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https://ms-release.obs.cn-</a:t>
            </a:r>
            <a:r>
              <a:rPr sz="2000" spc="110" dirty="0">
                <a:latin typeface="华文中宋" panose="02010600040101010101" charset="-122"/>
                <a:cs typeface="华文中宋" panose="02010600040101010101" charset="-122"/>
              </a:rPr>
              <a:t>north- 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4.myhuaweicloud.com/1.10.1/MindSpore/cpu/x86_64/mindspore-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1.10.1-cp39-cp39-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win_amd64.whl</a:t>
            </a:r>
            <a:r>
              <a:rPr sz="2000" spc="204" dirty="0">
                <a:latin typeface="华文中宋" panose="02010600040101010101" charset="-122"/>
                <a:cs typeface="华文中宋" panose="02010600040101010101" charset="-122"/>
              </a:rPr>
              <a:t> --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trusted-</a:t>
            </a:r>
            <a:r>
              <a:rPr sz="2000" spc="105" dirty="0">
                <a:latin typeface="华文中宋" panose="02010600040101010101" charset="-122"/>
                <a:cs typeface="华文中宋" panose="02010600040101010101" charset="-122"/>
              </a:rPr>
              <a:t>host</a:t>
            </a:r>
            <a:r>
              <a:rPr sz="2000" spc="33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ms-</a:t>
            </a:r>
            <a:r>
              <a:rPr sz="2000" spc="125" dirty="0">
                <a:latin typeface="华文中宋" panose="02010600040101010101" charset="-122"/>
                <a:cs typeface="华文中宋" panose="02010600040101010101" charset="-122"/>
              </a:rPr>
              <a:t>release.obs.cn- </a:t>
            </a:r>
            <a:r>
              <a:rPr sz="2000" spc="145" dirty="0">
                <a:latin typeface="华文中宋" panose="02010600040101010101" charset="-122"/>
                <a:cs typeface="华文中宋" panose="02010600040101010101" charset="-122"/>
              </a:rPr>
              <a:t>north-</a:t>
            </a:r>
            <a:r>
              <a:rPr sz="2000" spc="135" dirty="0">
                <a:latin typeface="华文中宋" panose="02010600040101010101" charset="-122"/>
                <a:cs typeface="华文中宋" panose="02010600040101010101" charset="-122"/>
              </a:rPr>
              <a:t>4.myhuaweicloud.com</a:t>
            </a:r>
            <a:r>
              <a:rPr sz="2000" spc="229" dirty="0">
                <a:latin typeface="华文中宋" panose="02010600040101010101" charset="-122"/>
                <a:cs typeface="华文中宋" panose="02010600040101010101" charset="-122"/>
              </a:rPr>
              <a:t> -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i</a:t>
            </a:r>
            <a:r>
              <a:rPr sz="2000" spc="32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https://pypi.tuna.tsinghua.edu.cn/simple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●"/>
            </a:pPr>
            <a:endParaRPr sz="3650">
              <a:latin typeface="华文中宋" panose="02010600040101010101" charset="-122"/>
              <a:cs typeface="华文中宋" panose="02010600040101010101" charset="-122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●"/>
              <a:tabLst>
                <a:tab pos="241300" algn="l"/>
              </a:tabLst>
            </a:pPr>
            <a:r>
              <a:rPr sz="2000" spc="140" dirty="0">
                <a:latin typeface="华文中宋" panose="02010600040101010101" charset="-122"/>
                <a:cs typeface="华文中宋" panose="02010600040101010101" charset="-122"/>
              </a:rPr>
              <a:t>验证是否安装成功：</a:t>
            </a:r>
            <a:r>
              <a:rPr sz="2000" spc="120" dirty="0">
                <a:latin typeface="华文中宋" panose="02010600040101010101" charset="-122"/>
                <a:cs typeface="华文中宋" panose="02010600040101010101" charset="-122"/>
              </a:rPr>
              <a:t>python</a:t>
            </a:r>
            <a:r>
              <a:rPr sz="2000" spc="229" dirty="0">
                <a:latin typeface="华文中宋" panose="02010600040101010101" charset="-122"/>
                <a:cs typeface="华文中宋" panose="02010600040101010101" charset="-122"/>
              </a:rPr>
              <a:t> -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c</a:t>
            </a:r>
            <a:r>
              <a:rPr sz="2000" spc="215" dirty="0">
                <a:latin typeface="华文中宋" panose="02010600040101010101" charset="-122"/>
                <a:cs typeface="华文中宋" panose="02010600040101010101" charset="-122"/>
              </a:rPr>
              <a:t> "</a:t>
            </a:r>
            <a:r>
              <a:rPr sz="2000" spc="120" dirty="0">
                <a:latin typeface="华文中宋" panose="02010600040101010101" charset="-122"/>
                <a:cs typeface="华文中宋" panose="02010600040101010101" charset="-122"/>
              </a:rPr>
              <a:t>import</a:t>
            </a:r>
            <a:r>
              <a:rPr sz="2000" spc="31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spc="130" dirty="0">
                <a:latin typeface="华文中宋" panose="02010600040101010101" charset="-122"/>
                <a:cs typeface="华文中宋" panose="02010600040101010101" charset="-122"/>
              </a:rPr>
              <a:t>mindspore;mindspore.run_check()"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27403" y="4751832"/>
            <a:ext cx="9300972" cy="6598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844" y="368934"/>
            <a:ext cx="4597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安装其他所需要的包：</a:t>
            </a:r>
            <a:endParaRPr b="0" spc="-5" dirty="0">
              <a:solidFill>
                <a:srgbClr val="000000"/>
              </a:solidFill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569" y="1143127"/>
            <a:ext cx="8806180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2546350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使用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“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conda</a:t>
            </a:r>
            <a:r>
              <a:rPr sz="2000" b="1" spc="10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b="1" spc="-10" dirty="0">
                <a:latin typeface="华文中宋" panose="02010600040101010101" charset="-122"/>
                <a:cs typeface="华文中宋" panose="02010600040101010101" charset="-122"/>
              </a:rPr>
              <a:t>install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	包的名字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”或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者</a:t>
            </a:r>
            <a:r>
              <a:rPr sz="2000" spc="-5" dirty="0">
                <a:latin typeface="华文中宋" panose="02010600040101010101" charset="-122"/>
                <a:cs typeface="华文中宋" panose="02010600040101010101" charset="-122"/>
              </a:rPr>
              <a:t> </a:t>
            </a: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“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pip install 包的名字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”进行其他依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赖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包的安装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。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00">
              <a:latin typeface="华文中宋" panose="02010600040101010101" charset="-122"/>
              <a:cs typeface="华文中宋" panose="02010600040101010101" charset="-122"/>
            </a:endParaRPr>
          </a:p>
          <a:p>
            <a:pPr marL="354965" indent="-342265">
              <a:lnSpc>
                <a:spcPct val="100000"/>
              </a:lnSpc>
              <a:buFont typeface="Arial" panose="020B0604020202020204"/>
              <a:buChar char="►"/>
              <a:tabLst>
                <a:tab pos="354965" algn="l"/>
                <a:tab pos="355600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mindspore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，用于神经网络的搭建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 panose="020B0604020202020204"/>
              <a:buChar char="►"/>
              <a:tabLst>
                <a:tab pos="354965" algn="l"/>
                <a:tab pos="355600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numpy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，用于处理一些数据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 panose="020B0604020202020204"/>
              <a:buChar char="►"/>
              <a:tabLst>
                <a:tab pos="354965" algn="l"/>
                <a:tab pos="355600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matplotlib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，用于画图、图像展示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 panose="020B0604020202020204"/>
              <a:buChar char="►"/>
              <a:tabLst>
                <a:tab pos="354965" algn="l"/>
                <a:tab pos="355600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struct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，用于处理二进制文件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 panose="020B0604020202020204"/>
              <a:buChar char="►"/>
              <a:tabLst>
                <a:tab pos="354965" algn="l"/>
                <a:tab pos="355600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easydict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，用于方便操作字典</a:t>
            </a:r>
            <a:endParaRPr sz="200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18632" y="2773679"/>
            <a:ext cx="5439156" cy="20528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170814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实验要求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4589" y="710692"/>
            <a:ext cx="9860915" cy="2780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52095" indent="-240030">
              <a:lnSpc>
                <a:spcPct val="100000"/>
              </a:lnSpc>
              <a:spcBef>
                <a:spcPts val="13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补全代码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，实现前馈神经网络。包括网络的初始化和前向过程。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252095" indent="-240030">
              <a:lnSpc>
                <a:spcPct val="100000"/>
              </a:lnSpc>
              <a:spcBef>
                <a:spcPts val="1200"/>
              </a:spcBef>
              <a:buSzPct val="95000"/>
              <a:buAutoNum type="arabicPeriod"/>
              <a:tabLst>
                <a:tab pos="252095" algn="l"/>
              </a:tabLst>
            </a:pP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训练前馈神经网络，</a:t>
            </a:r>
            <a:r>
              <a:rPr sz="2000" b="1" dirty="0">
                <a:latin typeface="华文中宋" panose="02010600040101010101" charset="-122"/>
                <a:cs typeface="华文中宋" panose="02010600040101010101" charset="-122"/>
              </a:rPr>
              <a:t>调整网络参数或者修改网络结构</a:t>
            </a:r>
            <a:r>
              <a:rPr sz="2000" spc="-15" dirty="0">
                <a:latin typeface="华文中宋" panose="02010600040101010101" charset="-122"/>
                <a:cs typeface="华文中宋" panose="02010600040101010101" charset="-122"/>
              </a:rPr>
              <a:t>，输出分类准确率。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 marR="5080">
              <a:lnSpc>
                <a:spcPct val="150000"/>
              </a:lnSpc>
            </a:pPr>
            <a:r>
              <a:rPr sz="2000" dirty="0">
                <a:latin typeface="华文中宋" panose="02010600040101010101" charset="-122"/>
                <a:cs typeface="华文中宋" panose="02010600040101010101" charset="-122"/>
              </a:rPr>
              <a:t>4. </a:t>
            </a:r>
            <a:r>
              <a:rPr lang="en-US" altLang="" sz="2000" dirty="0">
                <a:latin typeface="华文中宋" panose="02010600040101010101" charset="-122"/>
                <a:cs typeface="华文中宋" panose="02010600040101010101" charset="-122"/>
              </a:rPr>
              <a:t>6</a:t>
            </a: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月</a:t>
            </a:r>
            <a:r>
              <a:rPr lang="en-US" altLang=""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30</a:t>
            </a: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日晚上12:00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之前将代码（.py或者.ipynb文件）、实验报告（pdf文件</a:t>
            </a:r>
            <a:r>
              <a:rPr sz="2000" spc="-50" dirty="0">
                <a:latin typeface="华文中宋" panose="02010600040101010101" charset="-122"/>
                <a:cs typeface="华文中宋" panose="02010600040101010101" charset="-122"/>
              </a:rPr>
              <a:t>）</a:t>
            </a:r>
            <a:r>
              <a:rPr sz="2000" spc="-10" dirty="0">
                <a:latin typeface="华文中宋" panose="02010600040101010101" charset="-122"/>
                <a:cs typeface="华文中宋" panose="02010600040101010101" charset="-122"/>
              </a:rPr>
              <a:t>一并打包上传至邮箱。</a:t>
            </a: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邮箱：</a:t>
            </a:r>
            <a:r>
              <a:rPr lang="en-US" altLang="en-US"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2957736313@qq.com</a:t>
            </a:r>
            <a:endParaRPr sz="2000" dirty="0">
              <a:solidFill>
                <a:srgbClr val="FF0000"/>
              </a:solidFill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压缩包和实验报告命名方式：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实验序号_学号_姓名，例如：实验1_111702xxxxx_王</a:t>
            </a:r>
            <a:r>
              <a:rPr sz="2000" spc="-25" dirty="0">
                <a:solidFill>
                  <a:srgbClr val="FF0000"/>
                </a:solidFill>
                <a:latin typeface="华文中宋" panose="02010600040101010101" charset="-122"/>
                <a:cs typeface="华文中宋" panose="02010600040101010101" charset="-122"/>
              </a:rPr>
              <a:t>xx</a:t>
            </a:r>
            <a:endParaRPr sz="2000" dirty="0">
              <a:latin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05100" y="3677411"/>
            <a:ext cx="6781800" cy="2898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4250" y="170814"/>
            <a:ext cx="24644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solidFill>
                  <a:srgbClr val="000000"/>
                </a:solidFill>
                <a:latin typeface="华文中宋" panose="02010600040101010101" charset="-122"/>
                <a:cs typeface="华文中宋" panose="02010600040101010101" charset="-122"/>
              </a:rPr>
              <a:t>实验结果举例</a:t>
            </a:r>
            <a:endParaRPr sz="3200">
              <a:latin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351" y="2610611"/>
            <a:ext cx="4796155" cy="4177665"/>
            <a:chOff x="530351" y="2610611"/>
            <a:chExt cx="4796155" cy="417766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0351" y="2610611"/>
              <a:ext cx="4796028" cy="41772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9274" y="3588384"/>
              <a:ext cx="1287780" cy="214629"/>
            </a:xfrm>
            <a:custGeom>
              <a:avLst/>
              <a:gdLst/>
              <a:ahLst/>
              <a:cxnLst/>
              <a:rect l="l" t="t" r="r" b="b"/>
              <a:pathLst>
                <a:path w="1287780" h="214629">
                  <a:moveTo>
                    <a:pt x="1278255" y="214629"/>
                  </a:moveTo>
                  <a:lnTo>
                    <a:pt x="9525" y="214629"/>
                  </a:lnTo>
                  <a:lnTo>
                    <a:pt x="7404" y="214388"/>
                  </a:lnTo>
                  <a:lnTo>
                    <a:pt x="0" y="205104"/>
                  </a:lnTo>
                  <a:lnTo>
                    <a:pt x="0" y="9525"/>
                  </a:lnTo>
                  <a:lnTo>
                    <a:pt x="9525" y="0"/>
                  </a:lnTo>
                  <a:lnTo>
                    <a:pt x="1278255" y="0"/>
                  </a:lnTo>
                  <a:lnTo>
                    <a:pt x="1287780" y="9525"/>
                  </a:lnTo>
                  <a:lnTo>
                    <a:pt x="19050" y="9525"/>
                  </a:lnTo>
                  <a:lnTo>
                    <a:pt x="9525" y="19050"/>
                  </a:lnTo>
                  <a:lnTo>
                    <a:pt x="19050" y="19050"/>
                  </a:lnTo>
                  <a:lnTo>
                    <a:pt x="19050" y="195579"/>
                  </a:lnTo>
                  <a:lnTo>
                    <a:pt x="9525" y="195579"/>
                  </a:lnTo>
                  <a:lnTo>
                    <a:pt x="19050" y="205104"/>
                  </a:lnTo>
                  <a:lnTo>
                    <a:pt x="1287780" y="205104"/>
                  </a:lnTo>
                  <a:lnTo>
                    <a:pt x="1287538" y="207225"/>
                  </a:lnTo>
                  <a:lnTo>
                    <a:pt x="1280375" y="214388"/>
                  </a:lnTo>
                  <a:lnTo>
                    <a:pt x="1278255" y="214629"/>
                  </a:lnTo>
                  <a:close/>
                </a:path>
                <a:path w="1287780" h="214629">
                  <a:moveTo>
                    <a:pt x="19050" y="19050"/>
                  </a:moveTo>
                  <a:lnTo>
                    <a:pt x="9525" y="19050"/>
                  </a:lnTo>
                  <a:lnTo>
                    <a:pt x="19050" y="9525"/>
                  </a:lnTo>
                  <a:lnTo>
                    <a:pt x="19050" y="19050"/>
                  </a:lnTo>
                  <a:close/>
                </a:path>
                <a:path w="1287780" h="214629">
                  <a:moveTo>
                    <a:pt x="1268730" y="19050"/>
                  </a:moveTo>
                  <a:lnTo>
                    <a:pt x="19050" y="19050"/>
                  </a:lnTo>
                  <a:lnTo>
                    <a:pt x="19050" y="9525"/>
                  </a:lnTo>
                  <a:lnTo>
                    <a:pt x="1268730" y="9525"/>
                  </a:lnTo>
                  <a:lnTo>
                    <a:pt x="1268730" y="19050"/>
                  </a:lnTo>
                  <a:close/>
                </a:path>
                <a:path w="1287780" h="214629">
                  <a:moveTo>
                    <a:pt x="1268730" y="205104"/>
                  </a:moveTo>
                  <a:lnTo>
                    <a:pt x="1268730" y="9525"/>
                  </a:lnTo>
                  <a:lnTo>
                    <a:pt x="1278255" y="19050"/>
                  </a:lnTo>
                  <a:lnTo>
                    <a:pt x="1287780" y="19050"/>
                  </a:lnTo>
                  <a:lnTo>
                    <a:pt x="1287780" y="195579"/>
                  </a:lnTo>
                  <a:lnTo>
                    <a:pt x="1278255" y="195579"/>
                  </a:lnTo>
                  <a:lnTo>
                    <a:pt x="1268730" y="205104"/>
                  </a:lnTo>
                  <a:close/>
                </a:path>
                <a:path w="1287780" h="214629">
                  <a:moveTo>
                    <a:pt x="1287780" y="19050"/>
                  </a:moveTo>
                  <a:lnTo>
                    <a:pt x="1278255" y="19050"/>
                  </a:lnTo>
                  <a:lnTo>
                    <a:pt x="1268730" y="9525"/>
                  </a:lnTo>
                  <a:lnTo>
                    <a:pt x="1287780" y="9525"/>
                  </a:lnTo>
                  <a:lnTo>
                    <a:pt x="1287780" y="19050"/>
                  </a:lnTo>
                  <a:close/>
                </a:path>
                <a:path w="1287780" h="214629">
                  <a:moveTo>
                    <a:pt x="19050" y="205104"/>
                  </a:moveTo>
                  <a:lnTo>
                    <a:pt x="9525" y="195579"/>
                  </a:lnTo>
                  <a:lnTo>
                    <a:pt x="19050" y="195579"/>
                  </a:lnTo>
                  <a:lnTo>
                    <a:pt x="19050" y="205104"/>
                  </a:lnTo>
                  <a:close/>
                </a:path>
                <a:path w="1287780" h="214629">
                  <a:moveTo>
                    <a:pt x="1268730" y="205104"/>
                  </a:moveTo>
                  <a:lnTo>
                    <a:pt x="19050" y="205104"/>
                  </a:lnTo>
                  <a:lnTo>
                    <a:pt x="19050" y="195579"/>
                  </a:lnTo>
                  <a:lnTo>
                    <a:pt x="1268730" y="195579"/>
                  </a:lnTo>
                  <a:lnTo>
                    <a:pt x="1268730" y="205104"/>
                  </a:lnTo>
                  <a:close/>
                </a:path>
                <a:path w="1287780" h="214629">
                  <a:moveTo>
                    <a:pt x="1287780" y="205104"/>
                  </a:moveTo>
                  <a:lnTo>
                    <a:pt x="1268730" y="205104"/>
                  </a:lnTo>
                  <a:lnTo>
                    <a:pt x="1278255" y="195579"/>
                  </a:lnTo>
                  <a:lnTo>
                    <a:pt x="1287780" y="195579"/>
                  </a:lnTo>
                  <a:lnTo>
                    <a:pt x="1287780" y="2051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51459" y="10121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①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3615" y="10121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②</a:t>
            </a:r>
            <a:endParaRPr sz="1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1353311"/>
            <a:ext cx="4797552" cy="104241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0028" y="1338072"/>
            <a:ext cx="4681728" cy="105765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320028" y="2628900"/>
            <a:ext cx="4699000" cy="4124325"/>
            <a:chOff x="6320028" y="2628900"/>
            <a:chExt cx="4699000" cy="41243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0028" y="2628900"/>
              <a:ext cx="4698491" cy="41239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51270" y="3419475"/>
              <a:ext cx="2150745" cy="214629"/>
            </a:xfrm>
            <a:custGeom>
              <a:avLst/>
              <a:gdLst/>
              <a:ahLst/>
              <a:cxnLst/>
              <a:rect l="l" t="t" r="r" b="b"/>
              <a:pathLst>
                <a:path w="2150745" h="214629">
                  <a:moveTo>
                    <a:pt x="2141220" y="214629"/>
                  </a:moveTo>
                  <a:lnTo>
                    <a:pt x="9525" y="214629"/>
                  </a:lnTo>
                  <a:lnTo>
                    <a:pt x="7404" y="214388"/>
                  </a:lnTo>
                  <a:lnTo>
                    <a:pt x="0" y="205104"/>
                  </a:lnTo>
                  <a:lnTo>
                    <a:pt x="0" y="9525"/>
                  </a:lnTo>
                  <a:lnTo>
                    <a:pt x="9525" y="0"/>
                  </a:lnTo>
                  <a:lnTo>
                    <a:pt x="2141220" y="0"/>
                  </a:lnTo>
                  <a:lnTo>
                    <a:pt x="2150745" y="9525"/>
                  </a:lnTo>
                  <a:lnTo>
                    <a:pt x="19050" y="9525"/>
                  </a:lnTo>
                  <a:lnTo>
                    <a:pt x="9525" y="19050"/>
                  </a:lnTo>
                  <a:lnTo>
                    <a:pt x="19050" y="19050"/>
                  </a:lnTo>
                  <a:lnTo>
                    <a:pt x="19050" y="195579"/>
                  </a:lnTo>
                  <a:lnTo>
                    <a:pt x="9525" y="195579"/>
                  </a:lnTo>
                  <a:lnTo>
                    <a:pt x="19050" y="205104"/>
                  </a:lnTo>
                  <a:lnTo>
                    <a:pt x="2150745" y="205104"/>
                  </a:lnTo>
                  <a:lnTo>
                    <a:pt x="2150503" y="207225"/>
                  </a:lnTo>
                  <a:lnTo>
                    <a:pt x="2143340" y="214388"/>
                  </a:lnTo>
                  <a:lnTo>
                    <a:pt x="2141220" y="214629"/>
                  </a:lnTo>
                  <a:close/>
                </a:path>
                <a:path w="2150745" h="214629">
                  <a:moveTo>
                    <a:pt x="19050" y="19050"/>
                  </a:moveTo>
                  <a:lnTo>
                    <a:pt x="9525" y="19050"/>
                  </a:lnTo>
                  <a:lnTo>
                    <a:pt x="19050" y="9525"/>
                  </a:lnTo>
                  <a:lnTo>
                    <a:pt x="19050" y="19050"/>
                  </a:lnTo>
                  <a:close/>
                </a:path>
                <a:path w="2150745" h="214629">
                  <a:moveTo>
                    <a:pt x="2131695" y="19050"/>
                  </a:moveTo>
                  <a:lnTo>
                    <a:pt x="19050" y="19050"/>
                  </a:lnTo>
                  <a:lnTo>
                    <a:pt x="19050" y="9525"/>
                  </a:lnTo>
                  <a:lnTo>
                    <a:pt x="2131695" y="9525"/>
                  </a:lnTo>
                  <a:lnTo>
                    <a:pt x="2131695" y="19050"/>
                  </a:lnTo>
                  <a:close/>
                </a:path>
                <a:path w="2150745" h="214629">
                  <a:moveTo>
                    <a:pt x="2131695" y="205104"/>
                  </a:moveTo>
                  <a:lnTo>
                    <a:pt x="2131695" y="9525"/>
                  </a:lnTo>
                  <a:lnTo>
                    <a:pt x="2141220" y="19050"/>
                  </a:lnTo>
                  <a:lnTo>
                    <a:pt x="2150745" y="19050"/>
                  </a:lnTo>
                  <a:lnTo>
                    <a:pt x="2150745" y="195579"/>
                  </a:lnTo>
                  <a:lnTo>
                    <a:pt x="2141220" y="195579"/>
                  </a:lnTo>
                  <a:lnTo>
                    <a:pt x="2131695" y="205104"/>
                  </a:lnTo>
                  <a:close/>
                </a:path>
                <a:path w="2150745" h="214629">
                  <a:moveTo>
                    <a:pt x="2150745" y="19050"/>
                  </a:moveTo>
                  <a:lnTo>
                    <a:pt x="2141220" y="19050"/>
                  </a:lnTo>
                  <a:lnTo>
                    <a:pt x="2131695" y="9525"/>
                  </a:lnTo>
                  <a:lnTo>
                    <a:pt x="2150745" y="9525"/>
                  </a:lnTo>
                  <a:lnTo>
                    <a:pt x="2150745" y="19050"/>
                  </a:lnTo>
                  <a:close/>
                </a:path>
                <a:path w="2150745" h="214629">
                  <a:moveTo>
                    <a:pt x="19050" y="205104"/>
                  </a:moveTo>
                  <a:lnTo>
                    <a:pt x="9525" y="195579"/>
                  </a:lnTo>
                  <a:lnTo>
                    <a:pt x="19050" y="195579"/>
                  </a:lnTo>
                  <a:lnTo>
                    <a:pt x="19050" y="205104"/>
                  </a:lnTo>
                  <a:close/>
                </a:path>
                <a:path w="2150745" h="214629">
                  <a:moveTo>
                    <a:pt x="2131695" y="205104"/>
                  </a:moveTo>
                  <a:lnTo>
                    <a:pt x="19050" y="205104"/>
                  </a:lnTo>
                  <a:lnTo>
                    <a:pt x="19050" y="195579"/>
                  </a:lnTo>
                  <a:lnTo>
                    <a:pt x="2131695" y="195579"/>
                  </a:lnTo>
                  <a:lnTo>
                    <a:pt x="2131695" y="205104"/>
                  </a:lnTo>
                  <a:close/>
                </a:path>
                <a:path w="2150745" h="214629">
                  <a:moveTo>
                    <a:pt x="2150745" y="205104"/>
                  </a:moveTo>
                  <a:lnTo>
                    <a:pt x="2131695" y="205104"/>
                  </a:lnTo>
                  <a:lnTo>
                    <a:pt x="2141220" y="195579"/>
                  </a:lnTo>
                  <a:lnTo>
                    <a:pt x="2150745" y="195579"/>
                  </a:lnTo>
                  <a:lnTo>
                    <a:pt x="2150745" y="2051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2078</Words>
  <Application>WPS 演示</Application>
  <PresentationFormat>宽屏</PresentationFormat>
  <Paragraphs>75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华文中宋</vt:lpstr>
      <vt:lpstr>Times New Roman</vt:lpstr>
      <vt:lpstr>微软雅黑</vt:lpstr>
      <vt:lpstr>Arial</vt:lpstr>
      <vt:lpstr>Arial Unicode MS</vt:lpstr>
      <vt:lpstr>Calibri</vt:lpstr>
      <vt:lpstr>Office Theme</vt:lpstr>
      <vt:lpstr>昇腾全栈Al软硬件平台</vt:lpstr>
      <vt:lpstr>PowerPoint 演示文稿</vt:lpstr>
      <vt:lpstr>实验介绍</vt:lpstr>
      <vt:lpstr>预备知识</vt:lpstr>
      <vt:lpstr>网络中的每一个神经元都完成了一次计算工作,如下图所示。接受高维的输入(x1,x2...xn)与同维度的参数(w1,w2...wn)对应相乘，累加后，经过激活函数得到该神经元的输出，传递至下一层神经元。</vt:lpstr>
      <vt:lpstr>当第一个样本输入刚刚初始化的网络，会得到一个输出值，而对于该样本，我们知道他本该得到输出值,因此，通过下面的损失函数，我们可以得出这个样本的损失值。当然，这只是一种损失函数:二次代价函数。</vt:lpstr>
      <vt:lpstr>数据集介绍</vt:lpstr>
      <vt:lpstr>实验环境</vt:lpstr>
      <vt:lpstr>Miniconda/Anaconda</vt:lpstr>
      <vt:lpstr>安装mindspore</vt:lpstr>
      <vt:lpstr>安装mindspore</vt:lpstr>
      <vt:lpstr>安装其他所需要的包：</vt:lpstr>
      <vt:lpstr>实验要求</vt:lpstr>
      <vt:lpstr>实验结果举例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昇腾全栈Al软硬件平台</dc:title>
  <dc:creator/>
  <cp:lastModifiedBy>七寻笑</cp:lastModifiedBy>
  <cp:revision>7</cp:revision>
  <dcterms:created xsi:type="dcterms:W3CDTF">2024-05-12T04:46:00Z</dcterms:created>
  <dcterms:modified xsi:type="dcterms:W3CDTF">2026-06-21T05:12:28Z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2023-05-29T16:00:00Z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2024-05-12T16:00:00Z</vt:filetime>
  </property>
  <property fmtid="{D5CDD505-2E9C-101B-9397-08002B2CF9AE}" pid="5" name="SourceModified">
    <vt:lpwstr>D:20230529124356+04'43'</vt:lpwstr>
  </property>
  <property fmtid="{D5CDD505-2E9C-101B-9397-08002B2CF9AE}" pid="6" name="ICV">
    <vt:lpwstr>5F766EE5956E486885B82E3975103005_12</vt:lpwstr>
  </property>
  <property fmtid="{D5CDD505-2E9C-101B-9397-08002B2CF9AE}" pid="7" name="KSOProductBuildVer">
    <vt:lpwstr>2052-12.1.0.26895</vt:lpwstr>
  </property>
</Properties>
</file>