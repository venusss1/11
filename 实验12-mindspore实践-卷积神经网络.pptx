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7" r:id="rId15"/>
    <p:sldId id="278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5" d="100"/>
          <a:sy n="105" d="100"/>
        </p:scale>
        <p:origin x="798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36850" y="1924685"/>
            <a:ext cx="560260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241" y="560146"/>
            <a:ext cx="1057338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035" y="1534794"/>
            <a:ext cx="10114280" cy="3343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048000" y="2590800"/>
            <a:ext cx="56026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昇腾全栈Al</a:t>
            </a:r>
            <a:r>
              <a:rPr sz="44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软硬件平台</a:t>
            </a:r>
            <a:endParaRPr sz="44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48779" y="3851275"/>
            <a:ext cx="285496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华文中宋" panose="02010600040101010101" charset="-122"/>
                <a:cs typeface="华文中宋" panose="02010600040101010101" charset="-122"/>
              </a:rPr>
              <a:t>--</a:t>
            </a:r>
            <a:r>
              <a:rPr sz="2800" spc="-25" dirty="0">
                <a:latin typeface="华文中宋" panose="02010600040101010101" charset="-122"/>
                <a:cs typeface="华文中宋" panose="02010600040101010101" charset="-122"/>
              </a:rPr>
              <a:t>Mindspore</a:t>
            </a:r>
            <a:r>
              <a:rPr sz="2800" spc="-40" dirty="0">
                <a:latin typeface="华文中宋" panose="02010600040101010101" charset="-122"/>
                <a:cs typeface="华文中宋" panose="02010600040101010101" charset="-122"/>
              </a:rPr>
              <a:t>实践</a:t>
            </a:r>
            <a:endParaRPr sz="28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98480" y="0"/>
            <a:ext cx="1283207" cy="1283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1940" y="522731"/>
            <a:ext cx="11330940" cy="5231765"/>
            <a:chOff x="281940" y="522731"/>
            <a:chExt cx="11330940" cy="523176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1940" y="522731"/>
              <a:ext cx="11330940" cy="5231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47215" y="2138679"/>
              <a:ext cx="2345690" cy="2337435"/>
            </a:xfrm>
            <a:custGeom>
              <a:avLst/>
              <a:gdLst/>
              <a:ahLst/>
              <a:cxnLst/>
              <a:rect l="l" t="t" r="r" b="b"/>
              <a:pathLst>
                <a:path w="2345690" h="2337435">
                  <a:moveTo>
                    <a:pt x="1507490" y="0"/>
                  </a:moveTo>
                  <a:lnTo>
                    <a:pt x="1494790" y="0"/>
                  </a:lnTo>
                  <a:lnTo>
                    <a:pt x="1494790" y="12700"/>
                  </a:lnTo>
                  <a:lnTo>
                    <a:pt x="1494790" y="466090"/>
                  </a:lnTo>
                  <a:lnTo>
                    <a:pt x="12700" y="466090"/>
                  </a:lnTo>
                  <a:lnTo>
                    <a:pt x="12700" y="12700"/>
                  </a:lnTo>
                  <a:lnTo>
                    <a:pt x="1494790" y="12700"/>
                  </a:lnTo>
                  <a:lnTo>
                    <a:pt x="1494790" y="0"/>
                  </a:lnTo>
                  <a:lnTo>
                    <a:pt x="0" y="0"/>
                  </a:lnTo>
                  <a:lnTo>
                    <a:pt x="0" y="478790"/>
                  </a:lnTo>
                  <a:lnTo>
                    <a:pt x="1507490" y="478790"/>
                  </a:lnTo>
                  <a:lnTo>
                    <a:pt x="1507490" y="472440"/>
                  </a:lnTo>
                  <a:lnTo>
                    <a:pt x="1507490" y="466090"/>
                  </a:lnTo>
                  <a:lnTo>
                    <a:pt x="1507490" y="12700"/>
                  </a:lnTo>
                  <a:lnTo>
                    <a:pt x="1507490" y="6350"/>
                  </a:lnTo>
                  <a:lnTo>
                    <a:pt x="1507490" y="0"/>
                  </a:lnTo>
                  <a:close/>
                </a:path>
                <a:path w="2345690" h="2337435">
                  <a:moveTo>
                    <a:pt x="2345690" y="1720850"/>
                  </a:moveTo>
                  <a:lnTo>
                    <a:pt x="2332990" y="1720850"/>
                  </a:lnTo>
                  <a:lnTo>
                    <a:pt x="2332990" y="1733550"/>
                  </a:lnTo>
                  <a:lnTo>
                    <a:pt x="2332990" y="2324735"/>
                  </a:lnTo>
                  <a:lnTo>
                    <a:pt x="12700" y="2324735"/>
                  </a:lnTo>
                  <a:lnTo>
                    <a:pt x="12700" y="1733550"/>
                  </a:lnTo>
                  <a:lnTo>
                    <a:pt x="2332990" y="1733550"/>
                  </a:lnTo>
                  <a:lnTo>
                    <a:pt x="2332990" y="1720850"/>
                  </a:lnTo>
                  <a:lnTo>
                    <a:pt x="0" y="1720850"/>
                  </a:lnTo>
                  <a:lnTo>
                    <a:pt x="0" y="2337435"/>
                  </a:lnTo>
                  <a:lnTo>
                    <a:pt x="2345690" y="2337435"/>
                  </a:lnTo>
                  <a:lnTo>
                    <a:pt x="2345690" y="2331085"/>
                  </a:lnTo>
                  <a:lnTo>
                    <a:pt x="2345690" y="2324735"/>
                  </a:lnTo>
                  <a:lnTo>
                    <a:pt x="2345690" y="1733550"/>
                  </a:lnTo>
                  <a:lnTo>
                    <a:pt x="2345690" y="1727200"/>
                  </a:lnTo>
                  <a:lnTo>
                    <a:pt x="2345690" y="17208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351790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实验介绍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9644" y="1064386"/>
            <a:ext cx="10456545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CNN（卷积神经网络）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用于图像和语音识别等任务。它包含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卷积层和池化层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，通过学习图像的特征进行分类。CNN适用于处理具有空间结构的数据，并在计算机视觉领域取得重大突破。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 marR="412750" indent="457200">
              <a:lnSpc>
                <a:spcPct val="150000"/>
              </a:lnSpc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本次实验主要专注于理解卷积神经网络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(Convolutional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Neural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Network</a:t>
            </a:r>
            <a:r>
              <a:rPr sz="2000" spc="-20" dirty="0">
                <a:latin typeface="华文中宋" panose="02010600040101010101" charset="-122"/>
                <a:cs typeface="华文中宋" panose="02010600040101010101" charset="-122"/>
              </a:rPr>
              <a:t>) 原理，基于</a:t>
            </a:r>
            <a:r>
              <a:rPr sz="2000" spc="-5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b="1" spc="-10" dirty="0">
                <a:latin typeface="华文中宋" panose="02010600040101010101" charset="-122"/>
                <a:cs typeface="华文中宋" panose="02010600040101010101" charset="-122"/>
              </a:rPr>
              <a:t>Mindspore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框架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，利用网络实现Fashion-Mnist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图像分类</a:t>
            </a:r>
            <a:r>
              <a:rPr sz="2000" spc="-20" dirty="0">
                <a:latin typeface="华文中宋" panose="02010600040101010101" charset="-122"/>
                <a:cs typeface="华文中宋" panose="02010600040101010101" charset="-122"/>
              </a:rPr>
              <a:t>实验任务。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华文中宋" panose="02010600040101010101" charset="-122"/>
                <a:cs typeface="华文中宋" panose="02010600040101010101" charset="-122"/>
              </a:rPr>
              <a:t>目的：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252095" indent="-240030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掌握如何使用MindSpore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进行简单卷积神经网络的开发。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252095" indent="-240030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了解如何使用MindSpore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进行简单图片分类任务的训练。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252095" indent="-240030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了解如何使用MindSpore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进行简单图片分类任务的测试。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6575" y="351790"/>
            <a:ext cx="28708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卷积的基本原理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4875" y="1107567"/>
            <a:ext cx="993648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卷积的计算过程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：二维卷积操作相当于将卷积核作为一个滑动窗口，将其在输入张量上从左至右、从上至下地滑动，每滑动一下便将卷积核与其相应位置计算出一个加权系数，作为输出张量对应位置上的像素值。其计算过程为：将输入的张量与卷积核进行卷积操作，得到输出矩阵并将其返回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步长为1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的卷积过程如下图所示：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92327" y="3777905"/>
            <a:ext cx="5178572" cy="25894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4784" y="372110"/>
            <a:ext cx="28708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池化的基本原理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83789" y="3833198"/>
            <a:ext cx="5157656" cy="24411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4875" y="1107567"/>
            <a:ext cx="993203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池化的计算过程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：最大池化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（Max 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Pooling）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是一种常用的下采样操作，通常用于减少神经网络中的参数数量和计算复杂度。最大池化操作的过程类似于卷积操作，但是它并非使用卷积核对输入特征图进行滑动窗口运算，而是将输入特征图划分为若干大小相等的矩形块，每个矩形块内取最大值作为该块的输出，形成输出特征图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最大池化过程如下图所示：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9769" y="217805"/>
            <a:ext cx="10370820" cy="151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4295" algn="ctr">
              <a:lnSpc>
                <a:spcPct val="100000"/>
              </a:lnSpc>
              <a:spcBef>
                <a:spcPts val="105"/>
              </a:spcBef>
            </a:pPr>
            <a:r>
              <a:rPr sz="32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LeNet</a:t>
            </a: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网络结构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 marR="5080">
              <a:lnSpc>
                <a:spcPct val="150000"/>
              </a:lnSpc>
              <a:spcBef>
                <a:spcPts val="645"/>
              </a:spcBef>
            </a:pPr>
            <a:r>
              <a:rPr sz="20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本次实验我们使用简单的LeNet网络。</a:t>
            </a:r>
            <a:r>
              <a:rPr sz="2000" b="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LeNet</a:t>
            </a:r>
            <a:r>
              <a:rPr sz="20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 网络不包括输入层的情况下，共有7</a:t>
            </a:r>
            <a:r>
              <a:rPr sz="2000" b="0" spc="-5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层: </a:t>
            </a:r>
            <a:r>
              <a:rPr sz="2000" dirty="0">
                <a:solidFill>
                  <a:srgbClr val="000000"/>
                </a:solidFill>
              </a:rPr>
              <a:t>2</a:t>
            </a:r>
            <a:r>
              <a:rPr sz="2000" spc="-20" dirty="0">
                <a:solidFill>
                  <a:srgbClr val="000000"/>
                </a:solidFill>
              </a:rPr>
              <a:t>个卷积</a:t>
            </a:r>
            <a:r>
              <a:rPr sz="2000" dirty="0">
                <a:solidFill>
                  <a:srgbClr val="000000"/>
                </a:solidFill>
              </a:rPr>
              <a:t>层、2</a:t>
            </a:r>
            <a:r>
              <a:rPr sz="2000" spc="-10" dirty="0">
                <a:solidFill>
                  <a:srgbClr val="000000"/>
                </a:solidFill>
              </a:rPr>
              <a:t>个下采样层(池化层)、</a:t>
            </a:r>
            <a:r>
              <a:rPr sz="2000" dirty="0">
                <a:solidFill>
                  <a:srgbClr val="000000"/>
                </a:solidFill>
              </a:rPr>
              <a:t>3个全连接层</a:t>
            </a:r>
            <a:r>
              <a:rPr sz="2000" b="0" spc="-15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。每层都包含不同数量的训练参数，如下图所示: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93875" y="2082231"/>
            <a:ext cx="9199128" cy="27290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9134" y="4870450"/>
            <a:ext cx="10819130" cy="167132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/>
              <a:buChar char="►"/>
              <a:tabLst>
                <a:tab pos="298450" algn="l"/>
              </a:tabLst>
            </a:pPr>
            <a:r>
              <a:rPr sz="1800" b="1" spc="-20" dirty="0">
                <a:latin typeface="华文中宋" panose="02010600040101010101" charset="-122"/>
                <a:cs typeface="华文中宋" panose="02010600040101010101" charset="-122"/>
              </a:rPr>
              <a:t>输入层</a:t>
            </a:r>
            <a:r>
              <a:rPr sz="1800" spc="-15" dirty="0">
                <a:latin typeface="华文中宋" panose="02010600040101010101" charset="-122"/>
                <a:cs typeface="华文中宋" panose="02010600040101010101" charset="-122"/>
              </a:rPr>
              <a:t>:数据输入层</a:t>
            </a:r>
            <a:endParaRPr sz="1800">
              <a:latin typeface="华文中宋" panose="02010600040101010101" charset="-122"/>
              <a:cs typeface="华文中宋" panose="02010600040101010101" charset="-122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 panose="020B0604020202020204"/>
              <a:buChar char="►"/>
              <a:tabLst>
                <a:tab pos="298450" algn="l"/>
              </a:tabLst>
            </a:pPr>
            <a:r>
              <a:rPr sz="1800" b="1" spc="-20" dirty="0">
                <a:latin typeface="华文中宋" panose="02010600040101010101" charset="-122"/>
                <a:cs typeface="华文中宋" panose="02010600040101010101" charset="-122"/>
              </a:rPr>
              <a:t>卷积层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:通过卷积进行局部特征提取</a:t>
            </a:r>
            <a:endParaRPr sz="1800">
              <a:latin typeface="华文中宋" panose="02010600040101010101" charset="-122"/>
              <a:cs typeface="华文中宋" panose="02010600040101010101" charset="-122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 panose="020B0604020202020204"/>
              <a:buChar char="►"/>
              <a:tabLst>
                <a:tab pos="298450" algn="l"/>
              </a:tabLst>
            </a:pPr>
            <a:r>
              <a:rPr sz="1800" b="1" spc="-20" dirty="0">
                <a:latin typeface="华文中宋" panose="02010600040101010101" charset="-122"/>
                <a:cs typeface="华文中宋" panose="02010600040101010101" charset="-122"/>
              </a:rPr>
              <a:t>池化层</a:t>
            </a:r>
            <a:r>
              <a:rPr sz="1800" spc="-15" dirty="0">
                <a:latin typeface="华文中宋" panose="02010600040101010101" charset="-122"/>
                <a:cs typeface="华文中宋" panose="02010600040101010101" charset="-122"/>
              </a:rPr>
              <a:t>:通过下采样降低特征图的分辨率,降低输出对位置和形变的敏感度，保留关键特性,减少参数和计算</a:t>
            </a:r>
            <a:endParaRPr sz="1800">
              <a:latin typeface="华文中宋" panose="02010600040101010101" charset="-122"/>
              <a:cs typeface="华文中宋" panose="02010600040101010101" charset="-122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 panose="020B0604020202020204"/>
              <a:buChar char="►"/>
              <a:tabLst>
                <a:tab pos="298450" algn="l"/>
              </a:tabLst>
            </a:pPr>
            <a:r>
              <a:rPr sz="1800" b="1" spc="-20" dirty="0">
                <a:latin typeface="华文中宋" panose="02010600040101010101" charset="-122"/>
                <a:cs typeface="华文中宋" panose="02010600040101010101" charset="-122"/>
              </a:rPr>
              <a:t>全连接层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:将局部特征通过权值矩阵组装成完整图像，完成特征空间到真实类别空间的映射，类似分类器</a:t>
            </a:r>
            <a:endParaRPr sz="1800">
              <a:latin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226694"/>
            <a:ext cx="2058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数据集介绍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9644" y="1031874"/>
            <a:ext cx="1025207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100"/>
              </a:spcBef>
            </a:pP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Fashion-MNIST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是一个替代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MNIST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手写数字集的图像数据集。其涵盖了来自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10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种类别的共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7</a:t>
            </a:r>
            <a:r>
              <a:rPr sz="1800" spc="-25" dirty="0">
                <a:latin typeface="华文中宋" panose="02010600040101010101" charset="-122"/>
                <a:cs typeface="华文中宋" panose="02010600040101010101" charset="-122"/>
              </a:rPr>
              <a:t>万个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不同商品的正面图片。包括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60000/10000</a:t>
            </a:r>
            <a:r>
              <a:rPr sz="1800" spc="-5" dirty="0">
                <a:latin typeface="华文中宋" panose="02010600040101010101" charset="-122"/>
                <a:cs typeface="华文中宋" panose="02010600040101010101" charset="-122"/>
              </a:rPr>
              <a:t>的训练测试数据划分，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28x28x1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的</a:t>
            </a:r>
            <a:r>
              <a:rPr sz="1800" b="1" spc="-20" dirty="0">
                <a:latin typeface="华文中宋" panose="02010600040101010101" charset="-122"/>
                <a:cs typeface="华文中宋" panose="02010600040101010101" charset="-122"/>
              </a:rPr>
              <a:t>灰度图片</a:t>
            </a:r>
            <a:r>
              <a:rPr sz="1800" spc="-50" dirty="0">
                <a:latin typeface="华文中宋" panose="02010600040101010101" charset="-122"/>
                <a:cs typeface="华文中宋" panose="02010600040101010101" charset="-122"/>
              </a:rPr>
              <a:t>。</a:t>
            </a:r>
            <a:endParaRPr sz="180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 marR="46355" indent="457200">
              <a:lnSpc>
                <a:spcPct val="150000"/>
              </a:lnSpc>
            </a:pP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经典的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MNIST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数据集包含了大量的手写数字。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MNIST</a:t>
            </a:r>
            <a:r>
              <a:rPr sz="1800" spc="-5" dirty="0">
                <a:latin typeface="华文中宋" panose="02010600040101010101" charset="-122"/>
                <a:cs typeface="华文中宋" panose="02010600040101010101" charset="-122"/>
              </a:rPr>
              <a:t>数据集非常简单，很多深度学习算法在测试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集上的准确率已经达到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99.6</a:t>
            </a:r>
            <a:r>
              <a:rPr sz="1800" spc="-30" dirty="0">
                <a:latin typeface="华文中宋" panose="02010600040101010101" charset="-122"/>
                <a:cs typeface="华文中宋" panose="02010600040101010101" charset="-122"/>
              </a:rPr>
              <a:t>%。</a:t>
            </a:r>
            <a:endParaRPr sz="1800">
              <a:latin typeface="华文中宋" panose="02010600040101010101" charset="-122"/>
              <a:cs typeface="华文中宋" panose="02010600040101010101" charset="-122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  <a:tabLst>
                <a:tab pos="5577840" algn="l"/>
              </a:tabLst>
            </a:pP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将脚本和数据集组织为如下形式</a:t>
            </a:r>
            <a:r>
              <a:rPr sz="1800" spc="-50" dirty="0">
                <a:latin typeface="华文中宋" panose="02010600040101010101" charset="-122"/>
                <a:cs typeface="华文中宋" panose="02010600040101010101" charset="-122"/>
              </a:rPr>
              <a:t>：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	对数据集可视化效果如下</a:t>
            </a:r>
            <a:r>
              <a:rPr sz="1800" spc="-50" dirty="0">
                <a:latin typeface="华文中宋" panose="02010600040101010101" charset="-122"/>
                <a:cs typeface="华文中宋" panose="02010600040101010101" charset="-122"/>
              </a:rPr>
              <a:t>：</a:t>
            </a:r>
            <a:endParaRPr sz="18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98675" y="3392423"/>
            <a:ext cx="3116579" cy="1420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8675" y="4942332"/>
            <a:ext cx="3083052" cy="1420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3680" y="3395471"/>
            <a:ext cx="3499104" cy="31440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226694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实验环境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50707" y="1688592"/>
            <a:ext cx="4626344" cy="3813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0" dirty="0">
                <a:latin typeface="微软雅黑" panose="020B0503020204020204" charset="-122"/>
                <a:cs typeface="微软雅黑" panose="020B0503020204020204" charset="-122"/>
              </a:rPr>
              <a:t>Miniconda/Anaconda</a:t>
            </a:r>
            <a:endParaRPr spc="27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241" y="1470711"/>
            <a:ext cx="10714355" cy="474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33045" indent="-228600">
              <a:lnSpc>
                <a:spcPct val="150000"/>
              </a:lnSpc>
              <a:spcBef>
                <a:spcPts val="100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400" spc="114" dirty="0">
                <a:latin typeface="华文中宋" panose="02010600040101010101" charset="-122"/>
                <a:cs typeface="华文中宋" panose="02010600040101010101" charset="-122"/>
              </a:rPr>
              <a:t>Conda</a:t>
            </a:r>
            <a:r>
              <a:rPr sz="2400" spc="135" dirty="0">
                <a:latin typeface="华文中宋" panose="02010600040101010101" charset="-122"/>
                <a:cs typeface="华文中宋" panose="02010600040101010101" charset="-122"/>
              </a:rPr>
              <a:t> 是一个开源的</a:t>
            </a:r>
            <a:r>
              <a:rPr sz="2400" b="1" spc="130" dirty="0">
                <a:latin typeface="华文中宋" panose="02010600040101010101" charset="-122"/>
                <a:cs typeface="华文中宋" panose="02010600040101010101" charset="-122"/>
              </a:rPr>
              <a:t>软件包管理系统和环境管理系统</a:t>
            </a:r>
            <a:r>
              <a:rPr sz="2400" spc="125" dirty="0">
                <a:latin typeface="华文中宋" panose="02010600040101010101" charset="-122"/>
                <a:cs typeface="华文中宋" panose="02010600040101010101" charset="-122"/>
              </a:rPr>
              <a:t>，用于安装多个版</a:t>
            </a:r>
            <a:r>
              <a:rPr sz="2400" spc="140" dirty="0">
                <a:latin typeface="华文中宋" panose="02010600040101010101" charset="-122"/>
                <a:cs typeface="华文中宋" panose="02010600040101010101" charset="-122"/>
              </a:rPr>
              <a:t>本的软件包及其依赖关系，并在它们之间轻松切换。</a:t>
            </a:r>
            <a:endParaRPr sz="2400">
              <a:latin typeface="华文中宋" panose="02010600040101010101" charset="-122"/>
              <a:cs typeface="华文中宋" panose="02010600040101010101" charset="-122"/>
            </a:endParaRPr>
          </a:p>
          <a:p>
            <a:pPr marL="241300" marR="5080" indent="-228600">
              <a:lnSpc>
                <a:spcPct val="150000"/>
              </a:lnSpc>
              <a:spcBef>
                <a:spcPts val="1000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400" spc="114" dirty="0">
                <a:latin typeface="华文中宋" panose="02010600040101010101" charset="-122"/>
                <a:cs typeface="华文中宋" panose="02010600040101010101" charset="-122"/>
              </a:rPr>
              <a:t>Conda</a:t>
            </a:r>
            <a:r>
              <a:rPr sz="2400" spc="150" dirty="0">
                <a:latin typeface="华文中宋" panose="02010600040101010101" charset="-122"/>
                <a:cs typeface="华文中宋" panose="02010600040101010101" charset="-122"/>
              </a:rPr>
              <a:t> 是为 </a:t>
            </a:r>
            <a:r>
              <a:rPr sz="2400" spc="120" dirty="0">
                <a:latin typeface="华文中宋" panose="02010600040101010101" charset="-122"/>
                <a:cs typeface="华文中宋" panose="02010600040101010101" charset="-122"/>
              </a:rPr>
              <a:t>Python</a:t>
            </a:r>
            <a:r>
              <a:rPr sz="2400" spc="150" dirty="0">
                <a:latin typeface="华文中宋" panose="02010600040101010101" charset="-122"/>
                <a:cs typeface="华文中宋" panose="02010600040101010101" charset="-122"/>
              </a:rPr>
              <a:t> 程序创建的，适用于 </a:t>
            </a:r>
            <a:r>
              <a:rPr sz="2400" spc="130" dirty="0">
                <a:latin typeface="华文中宋" panose="02010600040101010101" charset="-122"/>
                <a:cs typeface="华文中宋" panose="02010600040101010101" charset="-122"/>
              </a:rPr>
              <a:t>Linux，OSX</a:t>
            </a:r>
            <a:r>
              <a:rPr sz="2400" spc="150" dirty="0">
                <a:latin typeface="华文中宋" panose="02010600040101010101" charset="-122"/>
                <a:cs typeface="华文中宋" panose="02010600040101010101" charset="-122"/>
              </a:rPr>
              <a:t> 和</a:t>
            </a:r>
            <a:r>
              <a:rPr sz="2400" spc="120" dirty="0">
                <a:latin typeface="华文中宋" panose="02010600040101010101" charset="-122"/>
                <a:cs typeface="华文中宋" panose="02010600040101010101" charset="-122"/>
              </a:rPr>
              <a:t>Windows，</a:t>
            </a:r>
            <a:r>
              <a:rPr sz="2400" spc="130" dirty="0">
                <a:latin typeface="华文中宋" panose="02010600040101010101" charset="-122"/>
                <a:cs typeface="华文中宋" panose="02010600040101010101" charset="-122"/>
              </a:rPr>
              <a:t>也可以打包和分发其他软件。</a:t>
            </a:r>
            <a:endParaRPr sz="2400">
              <a:latin typeface="华文中宋" panose="02010600040101010101" charset="-122"/>
              <a:cs typeface="华文中宋" panose="02010600040101010101" charset="-122"/>
            </a:endParaRPr>
          </a:p>
          <a:p>
            <a:pPr marL="241300" indent="-228600">
              <a:lnSpc>
                <a:spcPct val="100000"/>
              </a:lnSpc>
              <a:spcBef>
                <a:spcPts val="2440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400" spc="150" dirty="0">
                <a:latin typeface="华文中宋" panose="02010600040101010101" charset="-122"/>
                <a:cs typeface="华文中宋" panose="02010600040101010101" charset="-122"/>
              </a:rPr>
              <a:t>最流行的 </a:t>
            </a:r>
            <a:r>
              <a:rPr sz="2400" spc="120" dirty="0">
                <a:latin typeface="华文中宋" panose="02010600040101010101" charset="-122"/>
                <a:cs typeface="华文中宋" panose="02010600040101010101" charset="-122"/>
              </a:rPr>
              <a:t>Python</a:t>
            </a:r>
            <a:r>
              <a:rPr sz="2400" spc="135" dirty="0">
                <a:latin typeface="华文中宋" panose="02010600040101010101" charset="-122"/>
                <a:cs typeface="华文中宋" panose="02010600040101010101" charset="-122"/>
              </a:rPr>
              <a:t> 环境管理工具。</a:t>
            </a:r>
            <a:endParaRPr sz="2400">
              <a:latin typeface="华文中宋" panose="02010600040101010101" charset="-122"/>
              <a:cs typeface="华文中宋" panose="02010600040101010101" charset="-122"/>
            </a:endParaRPr>
          </a:p>
          <a:p>
            <a:pPr marL="1148715" marR="1033780" algn="just">
              <a:lnSpc>
                <a:spcPct val="150000"/>
              </a:lnSpc>
              <a:spcBef>
                <a:spcPts val="2735"/>
              </a:spcBef>
            </a:pPr>
            <a:r>
              <a:rPr sz="2000" spc="-2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总之， </a:t>
            </a:r>
            <a:r>
              <a:rPr sz="2000" spc="18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Anaconda是一个非常强大的P</a:t>
            </a:r>
            <a:r>
              <a:rPr sz="2000" spc="18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ython</a:t>
            </a:r>
            <a:r>
              <a:rPr sz="2000" spc="9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发行版， 它能够大大简化</a:t>
            </a:r>
            <a:r>
              <a:rPr sz="200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 Python的安装和管理，提高开发者的工作效率。对于数据科学工作者来说， </a:t>
            </a:r>
            <a:r>
              <a:rPr sz="2000" spc="-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Anaconda更是必不可少的工具之一。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安装</a:t>
            </a:r>
            <a:r>
              <a:rPr spc="235" dirty="0"/>
              <a:t>mindspore</a:t>
            </a:r>
            <a:endParaRPr spc="235" dirty="0"/>
          </a:p>
        </p:txBody>
      </p:sp>
      <p:sp>
        <p:nvSpPr>
          <p:cNvPr id="3" name="object 3"/>
          <p:cNvSpPr txBox="1"/>
          <p:nvPr/>
        </p:nvSpPr>
        <p:spPr>
          <a:xfrm>
            <a:off x="915035" y="1681162"/>
            <a:ext cx="70999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●"/>
              <a:tabLst>
                <a:tab pos="241300" algn="l"/>
              </a:tabLst>
            </a:pPr>
            <a:r>
              <a:rPr sz="2400" spc="130" dirty="0">
                <a:latin typeface="Arial" panose="020B0604020202020204"/>
                <a:cs typeface="Arial" panose="020B0604020202020204"/>
              </a:rPr>
              <a:t>mindspore</a:t>
            </a:r>
            <a:r>
              <a:rPr sz="2400" spc="130" dirty="0">
                <a:solidFill>
                  <a:srgbClr val="585858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u="heavy" spc="13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 panose="020B0604020202020204"/>
                <a:cs typeface="Arial" panose="020B0604020202020204"/>
              </a:rPr>
              <a:t>https://www.mindspore.cn/install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83310" y="2644140"/>
            <a:ext cx="85344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安装</a:t>
            </a:r>
            <a:r>
              <a:rPr spc="235" dirty="0"/>
              <a:t>mindspore</a:t>
            </a:r>
            <a:endParaRPr spc="235" dirty="0"/>
          </a:p>
        </p:txBody>
      </p:sp>
      <p:sp>
        <p:nvSpPr>
          <p:cNvPr id="3" name="object 3"/>
          <p:cNvSpPr txBox="1"/>
          <p:nvPr/>
        </p:nvSpPr>
        <p:spPr>
          <a:xfrm>
            <a:off x="685241" y="1489253"/>
            <a:ext cx="10760075" cy="2656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30000"/>
              </a:lnSpc>
              <a:spcBef>
                <a:spcPts val="95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000" spc="135" dirty="0">
                <a:latin typeface="华文中宋" panose="02010600040101010101" charset="-122"/>
                <a:cs typeface="华文中宋" panose="02010600040101010101" charset="-122"/>
              </a:rPr>
              <a:t>安装命令：</a:t>
            </a:r>
            <a:r>
              <a:rPr sz="2000" b="1" spc="105" dirty="0">
                <a:latin typeface="华文中宋" panose="02010600040101010101" charset="-122"/>
                <a:cs typeface="华文中宋" panose="02010600040101010101" charset="-122"/>
              </a:rPr>
              <a:t>pip</a:t>
            </a:r>
            <a:r>
              <a:rPr sz="2000" b="1" spc="32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20" dirty="0">
                <a:latin typeface="华文中宋" panose="02010600040101010101" charset="-122"/>
                <a:cs typeface="华文中宋" panose="02010600040101010101" charset="-122"/>
              </a:rPr>
              <a:t>install</a:t>
            </a:r>
            <a:r>
              <a:rPr sz="2000" spc="32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https://ms-release.obs.cn-</a:t>
            </a:r>
            <a:r>
              <a:rPr sz="2000" spc="110" dirty="0">
                <a:latin typeface="华文中宋" panose="02010600040101010101" charset="-122"/>
                <a:cs typeface="华文中宋" panose="02010600040101010101" charset="-122"/>
              </a:rPr>
              <a:t>north- </a:t>
            </a:r>
            <a:r>
              <a:rPr sz="2000" spc="130" dirty="0">
                <a:latin typeface="华文中宋" panose="02010600040101010101" charset="-122"/>
                <a:cs typeface="华文中宋" panose="02010600040101010101" charset="-122"/>
              </a:rPr>
              <a:t>4.myhuaweicloud.com/1.10.1/MindSpore/cpu/x86_64/mindspore- 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1.10.1-cp39-cp39-</a:t>
            </a:r>
            <a:r>
              <a:rPr sz="2000" spc="130" dirty="0">
                <a:latin typeface="华文中宋" panose="02010600040101010101" charset="-122"/>
                <a:cs typeface="华文中宋" panose="02010600040101010101" charset="-122"/>
              </a:rPr>
              <a:t>win_amd64.whl</a:t>
            </a:r>
            <a:r>
              <a:rPr sz="2000" spc="204" dirty="0">
                <a:latin typeface="华文中宋" panose="02010600040101010101" charset="-122"/>
                <a:cs typeface="华文中宋" panose="02010600040101010101" charset="-122"/>
              </a:rPr>
              <a:t> --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trusted-</a:t>
            </a:r>
            <a:r>
              <a:rPr sz="2000" spc="105" dirty="0">
                <a:latin typeface="华文中宋" panose="02010600040101010101" charset="-122"/>
                <a:cs typeface="华文中宋" panose="02010600040101010101" charset="-122"/>
              </a:rPr>
              <a:t>host</a:t>
            </a:r>
            <a:r>
              <a:rPr sz="2000" spc="33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ms-</a:t>
            </a:r>
            <a:r>
              <a:rPr sz="2000" spc="125" dirty="0">
                <a:latin typeface="华文中宋" panose="02010600040101010101" charset="-122"/>
                <a:cs typeface="华文中宋" panose="02010600040101010101" charset="-122"/>
              </a:rPr>
              <a:t>release.obs.cn- 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north-</a:t>
            </a:r>
            <a:r>
              <a:rPr sz="2000" spc="135" dirty="0">
                <a:latin typeface="华文中宋" panose="02010600040101010101" charset="-122"/>
                <a:cs typeface="华文中宋" panose="02010600040101010101" charset="-122"/>
              </a:rPr>
              <a:t>4.myhuaweicloud.com</a:t>
            </a:r>
            <a:r>
              <a:rPr sz="2000" spc="229" dirty="0">
                <a:latin typeface="华文中宋" panose="02010600040101010101" charset="-122"/>
                <a:cs typeface="华文中宋" panose="02010600040101010101" charset="-122"/>
              </a:rPr>
              <a:t> -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i</a:t>
            </a:r>
            <a:r>
              <a:rPr sz="2000" spc="32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30" dirty="0">
                <a:latin typeface="华文中宋" panose="02010600040101010101" charset="-122"/>
                <a:cs typeface="华文中宋" panose="02010600040101010101" charset="-122"/>
              </a:rPr>
              <a:t>https://pypi.tuna.tsinghua.edu.cn/simple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●"/>
            </a:pPr>
            <a:endParaRPr sz="3650">
              <a:latin typeface="华文中宋" panose="02010600040101010101" charset="-122"/>
              <a:cs typeface="华文中宋" panose="02010600040101010101" charset="-122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●"/>
              <a:tabLst>
                <a:tab pos="241300" algn="l"/>
              </a:tabLst>
            </a:pPr>
            <a:r>
              <a:rPr sz="2000" spc="140" dirty="0">
                <a:latin typeface="华文中宋" panose="02010600040101010101" charset="-122"/>
                <a:cs typeface="华文中宋" panose="02010600040101010101" charset="-122"/>
              </a:rPr>
              <a:t>验证是否安装成功：</a:t>
            </a:r>
            <a:r>
              <a:rPr sz="2000" spc="120" dirty="0">
                <a:latin typeface="华文中宋" panose="02010600040101010101" charset="-122"/>
                <a:cs typeface="华文中宋" panose="02010600040101010101" charset="-122"/>
              </a:rPr>
              <a:t>python</a:t>
            </a:r>
            <a:r>
              <a:rPr sz="2000" spc="229" dirty="0">
                <a:latin typeface="华文中宋" panose="02010600040101010101" charset="-122"/>
                <a:cs typeface="华文中宋" panose="02010600040101010101" charset="-122"/>
              </a:rPr>
              <a:t> -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c</a:t>
            </a:r>
            <a:r>
              <a:rPr sz="2000" spc="215" dirty="0">
                <a:latin typeface="华文中宋" panose="02010600040101010101" charset="-122"/>
                <a:cs typeface="华文中宋" panose="02010600040101010101" charset="-122"/>
              </a:rPr>
              <a:t> "</a:t>
            </a:r>
            <a:r>
              <a:rPr sz="2000" spc="120" dirty="0">
                <a:latin typeface="华文中宋" panose="02010600040101010101" charset="-122"/>
                <a:cs typeface="华文中宋" panose="02010600040101010101" charset="-122"/>
              </a:rPr>
              <a:t>import</a:t>
            </a:r>
            <a:r>
              <a:rPr sz="2000" spc="31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30" dirty="0">
                <a:latin typeface="华文中宋" panose="02010600040101010101" charset="-122"/>
                <a:cs typeface="华文中宋" panose="02010600040101010101" charset="-122"/>
              </a:rPr>
              <a:t>mindspore;mindspore.run_check()"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27403" y="4751832"/>
            <a:ext cx="9300972" cy="6598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170814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实验要求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4589" y="755142"/>
            <a:ext cx="9860915" cy="2780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52095" indent="-240030">
              <a:lnSpc>
                <a:spcPct val="100000"/>
              </a:lnSpc>
              <a:spcBef>
                <a:spcPts val="13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补全代码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，实现LeNet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网络。包括网络的初始化和前向过程。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252095" indent="-240030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训练LeNet网络，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调整网络参数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，输出分类准确率。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 marR="5080">
              <a:lnSpc>
                <a:spcPct val="150000"/>
              </a:lnSpc>
            </a:pP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4. </a:t>
            </a:r>
            <a:r>
              <a:rPr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6月</a:t>
            </a:r>
            <a:r>
              <a:rPr lang="en-US" altLang=""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3</a:t>
            </a:r>
            <a:r>
              <a:rPr lang="en-US" altLang="en-US"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0</a:t>
            </a:r>
            <a:r>
              <a:rPr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日晚上12:00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之前将代码（.py或者.ipynb文件）、实验报告（doc或pdf文件</a:t>
            </a:r>
            <a:r>
              <a:rPr sz="2000" spc="-50" dirty="0">
                <a:latin typeface="华文中宋" panose="02010600040101010101" charset="-122"/>
                <a:cs typeface="华文中宋" panose="02010600040101010101" charset="-122"/>
              </a:rPr>
              <a:t>）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一并打包上传至邮箱。</a:t>
            </a:r>
            <a:r>
              <a:rPr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邮箱：</a:t>
            </a:r>
            <a:r>
              <a:rPr lang="en-US" altLang="en-US"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2957736313@qq.com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压缩包和实验报告命名方式：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实验序号_学号_姓名，例如：实验1_111702xxxxx_王</a:t>
            </a:r>
            <a:r>
              <a:rPr sz="2000" spc="-2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xx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47316" y="3774947"/>
            <a:ext cx="738378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241" y="639521"/>
            <a:ext cx="4003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0" dirty="0"/>
              <a:t>常用的</a:t>
            </a:r>
            <a:r>
              <a:rPr spc="275" dirty="0"/>
              <a:t>conda</a:t>
            </a:r>
            <a:r>
              <a:rPr spc="105" dirty="0"/>
              <a:t>命令</a:t>
            </a:r>
            <a:endParaRPr spc="10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pc="140" dirty="0">
                <a:latin typeface="华文中宋" panose="02010600040101010101" charset="-122"/>
                <a:cs typeface="华文中宋" panose="02010600040101010101" charset="-122"/>
              </a:rPr>
              <a:t>新建环境：</a:t>
            </a:r>
            <a:r>
              <a:rPr spc="120" dirty="0"/>
              <a:t>conda</a:t>
            </a:r>
            <a:r>
              <a:rPr spc="285" dirty="0"/>
              <a:t> </a:t>
            </a:r>
            <a:r>
              <a:rPr spc="114" dirty="0"/>
              <a:t>create</a:t>
            </a:r>
            <a:r>
              <a:rPr spc="225" dirty="0"/>
              <a:t> -</a:t>
            </a:r>
            <a:r>
              <a:rPr dirty="0"/>
              <a:t>n</a:t>
            </a:r>
            <a:r>
              <a:rPr spc="295" dirty="0"/>
              <a:t> </a:t>
            </a:r>
            <a:r>
              <a:rPr spc="114" dirty="0">
                <a:latin typeface="华文中宋" panose="02010600040101010101" charset="-122"/>
                <a:cs typeface="华文中宋" panose="02010600040101010101" charset="-122"/>
              </a:rPr>
              <a:t>环境名 </a:t>
            </a:r>
            <a:r>
              <a:rPr spc="120" dirty="0"/>
              <a:t>python==3.9</a:t>
            </a:r>
            <a:endParaRPr spc="120" dirty="0"/>
          </a:p>
          <a:p>
            <a:pPr marL="12700" marR="5080">
              <a:lnSpc>
                <a:spcPct val="130000"/>
              </a:lnSpc>
              <a:spcBef>
                <a:spcPts val="1000"/>
              </a:spcBef>
            </a:pPr>
            <a:r>
              <a:rPr b="0" spc="135" dirty="0">
                <a:latin typeface="华文中宋" panose="02010600040101010101" charset="-122"/>
                <a:cs typeface="华文中宋" panose="02010600040101010101" charset="-122"/>
              </a:rPr>
              <a:t>例如：</a:t>
            </a:r>
            <a:r>
              <a:rPr b="0" spc="120" dirty="0">
                <a:latin typeface="Times New Roman" panose="02020603050405020304"/>
                <a:cs typeface="Times New Roman" panose="02020603050405020304"/>
              </a:rPr>
              <a:t>conda</a:t>
            </a:r>
            <a:r>
              <a:rPr b="0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120" dirty="0">
                <a:latin typeface="Times New Roman" panose="02020603050405020304"/>
                <a:cs typeface="Times New Roman" panose="02020603050405020304"/>
              </a:rPr>
              <a:t>create</a:t>
            </a:r>
            <a:r>
              <a:rPr b="0" spc="145" dirty="0">
                <a:latin typeface="Times New Roman" panose="02020603050405020304"/>
                <a:cs typeface="Times New Roman" panose="02020603050405020304"/>
              </a:rPr>
              <a:t> -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0" spc="125" dirty="0">
                <a:latin typeface="Times New Roman" panose="02020603050405020304"/>
                <a:cs typeface="Times New Roman" panose="02020603050405020304"/>
              </a:rPr>
              <a:t> mindspore </a:t>
            </a:r>
            <a:r>
              <a:rPr b="0" spc="145" dirty="0">
                <a:latin typeface="Times New Roman" panose="02020603050405020304"/>
                <a:cs typeface="Times New Roman" panose="02020603050405020304"/>
              </a:rPr>
              <a:t>python==3.9</a:t>
            </a:r>
            <a:r>
              <a:rPr b="0" spc="145" dirty="0">
                <a:latin typeface="华文中宋" panose="02010600040101010101" charset="-122"/>
                <a:cs typeface="华文中宋" panose="02010600040101010101" charset="-122"/>
              </a:rPr>
              <a:t>会创建一个名为</a:t>
            </a:r>
            <a:r>
              <a:rPr b="0" spc="145" dirty="0">
                <a:latin typeface="Times New Roman" panose="02020603050405020304"/>
                <a:cs typeface="Times New Roman" panose="02020603050405020304"/>
              </a:rPr>
              <a:t>mindspore</a:t>
            </a:r>
            <a:r>
              <a:rPr b="0" spc="145" dirty="0">
                <a:latin typeface="华文中宋" panose="02010600040101010101" charset="-122"/>
                <a:cs typeface="华文中宋" panose="02010600040101010101" charset="-122"/>
              </a:rPr>
              <a:t>的</a:t>
            </a:r>
            <a:r>
              <a:rPr b="0" spc="145" dirty="0">
                <a:latin typeface="Times New Roman" panose="02020603050405020304"/>
                <a:cs typeface="Times New Roman" panose="02020603050405020304"/>
              </a:rPr>
              <a:t>python</a:t>
            </a:r>
            <a:r>
              <a:rPr b="0" spc="-50" dirty="0">
                <a:latin typeface="华文中宋" panose="02010600040101010101" charset="-122"/>
                <a:cs typeface="华文中宋" panose="02010600040101010101" charset="-122"/>
              </a:rPr>
              <a:t>环</a:t>
            </a:r>
            <a:r>
              <a:rPr b="0" spc="45" dirty="0">
                <a:latin typeface="华文中宋" panose="02010600040101010101" charset="-122"/>
                <a:cs typeface="华文中宋" panose="02010600040101010101" charset="-122"/>
              </a:rPr>
              <a:t>境。</a:t>
            </a:r>
            <a:endParaRPr b="0" spc="45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 marR="5348605" indent="228600">
              <a:lnSpc>
                <a:spcPct val="172000"/>
              </a:lnSpc>
              <a:buFont typeface="Arial" panose="020B0604020202020204"/>
              <a:buChar char="●"/>
              <a:tabLst>
                <a:tab pos="241300" algn="l"/>
              </a:tabLst>
            </a:pPr>
            <a:r>
              <a:rPr spc="145" dirty="0">
                <a:latin typeface="华文中宋" panose="02010600040101010101" charset="-122"/>
                <a:cs typeface="华文中宋" panose="02010600040101010101" charset="-122"/>
              </a:rPr>
              <a:t>激活环境：</a:t>
            </a:r>
            <a:r>
              <a:rPr spc="125" dirty="0">
                <a:latin typeface="华文中宋" panose="02010600040101010101" charset="-122"/>
                <a:cs typeface="华文中宋" panose="02010600040101010101" charset="-122"/>
              </a:rPr>
              <a:t>conda activate</a:t>
            </a:r>
            <a:r>
              <a:rPr spc="90" dirty="0">
                <a:latin typeface="华文中宋" panose="02010600040101010101" charset="-122"/>
                <a:cs typeface="华文中宋" panose="02010600040101010101" charset="-122"/>
              </a:rPr>
              <a:t> 环境名</a:t>
            </a:r>
            <a:r>
              <a:rPr b="0" spc="145" dirty="0">
                <a:latin typeface="华文中宋" panose="02010600040101010101" charset="-122"/>
                <a:cs typeface="华文中宋" panose="02010600040101010101" charset="-122"/>
              </a:rPr>
              <a:t>默认的conda环境是base</a:t>
            </a:r>
            <a:r>
              <a:rPr b="0" spc="110" dirty="0">
                <a:latin typeface="华文中宋" panose="02010600040101010101" charset="-122"/>
                <a:cs typeface="华文中宋" panose="02010600040101010101" charset="-122"/>
              </a:rPr>
              <a:t>，如图所示：</a:t>
            </a:r>
            <a:endParaRPr b="0" spc="110" dirty="0">
              <a:latin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65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</a:pPr>
            <a:r>
              <a:rPr b="0" spc="145" dirty="0">
                <a:latin typeface="华文中宋" panose="02010600040101010101" charset="-122"/>
                <a:cs typeface="华文中宋" panose="02010600040101010101" charset="-122"/>
              </a:rPr>
              <a:t>使用</a:t>
            </a:r>
            <a:r>
              <a:rPr b="0" spc="114" dirty="0">
                <a:latin typeface="华文中宋" panose="02010600040101010101" charset="-122"/>
                <a:cs typeface="华文中宋" panose="02010600040101010101" charset="-122"/>
              </a:rPr>
              <a:t>conda</a:t>
            </a:r>
            <a:r>
              <a:rPr b="0" spc="30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b="0" spc="125" dirty="0">
                <a:latin typeface="华文中宋" panose="02010600040101010101" charset="-122"/>
                <a:cs typeface="华文中宋" panose="02010600040101010101" charset="-122"/>
              </a:rPr>
              <a:t>activate</a:t>
            </a:r>
            <a:r>
              <a:rPr b="0" spc="30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b="0" spc="145" dirty="0">
                <a:latin typeface="华文中宋" panose="02010600040101010101" charset="-122"/>
                <a:cs typeface="华文中宋" panose="02010600040101010101" charset="-122"/>
              </a:rPr>
              <a:t>mindspore可以切换到刚刚创建的python3.9</a:t>
            </a:r>
            <a:r>
              <a:rPr b="0" spc="75" dirty="0">
                <a:latin typeface="华文中宋" panose="02010600040101010101" charset="-122"/>
                <a:cs typeface="华文中宋" panose="02010600040101010101" charset="-122"/>
              </a:rPr>
              <a:t>环境：</a:t>
            </a:r>
            <a:endParaRPr b="0" spc="75" dirty="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26179" y="4018788"/>
            <a:ext cx="2729483" cy="3383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8835" y="4975859"/>
            <a:ext cx="5088636" cy="342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5920" y="5477255"/>
            <a:ext cx="7490459" cy="8305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241" y="639521"/>
            <a:ext cx="4003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0" dirty="0"/>
              <a:t>常用的</a:t>
            </a:r>
            <a:r>
              <a:rPr spc="275" dirty="0"/>
              <a:t>conda</a:t>
            </a:r>
            <a:r>
              <a:rPr spc="105" dirty="0"/>
              <a:t>命令</a:t>
            </a:r>
            <a:endParaRPr spc="105" dirty="0"/>
          </a:p>
        </p:txBody>
      </p:sp>
      <p:sp>
        <p:nvSpPr>
          <p:cNvPr id="3" name="object 3"/>
          <p:cNvSpPr txBox="1"/>
          <p:nvPr/>
        </p:nvSpPr>
        <p:spPr>
          <a:xfrm>
            <a:off x="685165" y="1591945"/>
            <a:ext cx="4837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400" spc="145" dirty="0">
                <a:latin typeface="华文中宋" panose="02010600040101010101" charset="-122"/>
                <a:cs typeface="华文中宋" panose="02010600040101010101" charset="-122"/>
              </a:rPr>
              <a:t>查看环境列表：</a:t>
            </a:r>
            <a:r>
              <a:rPr sz="2400" spc="125" dirty="0">
                <a:latin typeface="华文中宋" panose="02010600040101010101" charset="-122"/>
                <a:cs typeface="华文中宋" panose="02010600040101010101" charset="-122"/>
              </a:rPr>
              <a:t>conda</a:t>
            </a:r>
            <a:r>
              <a:rPr sz="2400" spc="29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400" spc="100" dirty="0">
                <a:latin typeface="华文中宋" panose="02010600040101010101" charset="-122"/>
                <a:cs typeface="华文中宋" panose="02010600040101010101" charset="-122"/>
              </a:rPr>
              <a:t>env</a:t>
            </a:r>
            <a:r>
              <a:rPr sz="2400" spc="30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400" spc="90" dirty="0">
                <a:latin typeface="华文中宋" panose="02010600040101010101" charset="-122"/>
                <a:cs typeface="华文中宋" panose="02010600040101010101" charset="-122"/>
              </a:rPr>
              <a:t>list</a:t>
            </a:r>
            <a:endParaRPr sz="24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165" y="5805804"/>
            <a:ext cx="6526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400" spc="145" dirty="0">
                <a:latin typeface="华文中宋" panose="02010600040101010101" charset="-122"/>
                <a:cs typeface="华文中宋" panose="02010600040101010101" charset="-122"/>
              </a:rPr>
              <a:t>删除环境：</a:t>
            </a:r>
            <a:r>
              <a:rPr sz="2400" spc="125" dirty="0">
                <a:latin typeface="华文中宋" panose="02010600040101010101" charset="-122"/>
                <a:cs typeface="华文中宋" panose="02010600040101010101" charset="-122"/>
              </a:rPr>
              <a:t>conda</a:t>
            </a:r>
            <a:r>
              <a:rPr sz="2400" spc="29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400" spc="120" dirty="0">
                <a:latin typeface="华文中宋" panose="02010600040101010101" charset="-122"/>
                <a:cs typeface="华文中宋" panose="02010600040101010101" charset="-122"/>
              </a:rPr>
              <a:t>remove</a:t>
            </a:r>
            <a:r>
              <a:rPr sz="2400" spc="225" dirty="0">
                <a:latin typeface="华文中宋" panose="02010600040101010101" charset="-122"/>
                <a:cs typeface="华文中宋" panose="02010600040101010101" charset="-122"/>
              </a:rPr>
              <a:t> -</a:t>
            </a:r>
            <a:r>
              <a:rPr sz="2400" dirty="0">
                <a:latin typeface="华文中宋" panose="02010600040101010101" charset="-122"/>
                <a:cs typeface="华文中宋" panose="02010600040101010101" charset="-122"/>
              </a:rPr>
              <a:t>n</a:t>
            </a:r>
            <a:r>
              <a:rPr sz="2400" spc="170" dirty="0">
                <a:latin typeface="华文中宋" panose="02010600040101010101" charset="-122"/>
                <a:cs typeface="华文中宋" panose="02010600040101010101" charset="-122"/>
              </a:rPr>
              <a:t> 环境名 --</a:t>
            </a:r>
            <a:r>
              <a:rPr sz="2400" spc="70" dirty="0">
                <a:latin typeface="华文中宋" panose="02010600040101010101" charset="-122"/>
                <a:cs typeface="华文中宋" panose="02010600040101010101" charset="-122"/>
              </a:rPr>
              <a:t>all</a:t>
            </a:r>
            <a:endParaRPr sz="24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18004" y="2145792"/>
            <a:ext cx="5911596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2093</Words>
  <Application>WPS 演示</Application>
  <PresentationFormat>宽屏</PresentationFormat>
  <Paragraphs>79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华文中宋</vt:lpstr>
      <vt:lpstr>Times New Roman</vt:lpstr>
      <vt:lpstr>Arial</vt:lpstr>
      <vt:lpstr>微软雅黑</vt:lpstr>
      <vt:lpstr>Calibri</vt:lpstr>
      <vt:lpstr>Arial Unicode MS</vt:lpstr>
      <vt:lpstr>Office Theme</vt:lpstr>
      <vt:lpstr>昇腾全栈Al软硬件平台</vt:lpstr>
      <vt:lpstr>PowerPoint 演示文稿</vt:lpstr>
      <vt:lpstr>实验介绍</vt:lpstr>
      <vt:lpstr>卷积的基本原理</vt:lpstr>
      <vt:lpstr>池化的基本原理</vt:lpstr>
      <vt:lpstr>本次实验我们使用简单的LeNet网络。LeNet 网络不包括输入层的情况下，共有7层: 2个卷积层、2个下采样层(池化层)、3个全连接层。每层都包含不同数量的训练参数，如下图所示:</vt:lpstr>
      <vt:lpstr>数据集介绍</vt:lpstr>
      <vt:lpstr>实验环境</vt:lpstr>
      <vt:lpstr>Miniconda/Anaconda</vt:lpstr>
      <vt:lpstr>安装mindspore</vt:lpstr>
      <vt:lpstr>安装mindspore</vt:lpstr>
      <vt:lpstr>实验要求</vt:lpstr>
      <vt:lpstr>常用的conda命令</vt:lpstr>
      <vt:lpstr>常用的conda命令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昇腾全栈Al软硬件平台</dc:title>
  <dc:creator/>
  <cp:lastModifiedBy>七寻笑</cp:lastModifiedBy>
  <cp:revision>4</cp:revision>
  <dcterms:created xsi:type="dcterms:W3CDTF">2024-05-19T05:36:00Z</dcterms:created>
  <dcterms:modified xsi:type="dcterms:W3CDTF">2026-06-21T05:23:14Z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2023-06-10T16:00:00Z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2024-05-19T16:00:00Z</vt:filetime>
  </property>
  <property fmtid="{D5CDD505-2E9C-101B-9397-08002B2CF9AE}" pid="5" name="SourceModified">
    <vt:lpwstr>D:20230610183039+10'30'</vt:lpwstr>
  </property>
  <property fmtid="{D5CDD505-2E9C-101B-9397-08002B2CF9AE}" pid="6" name="ICV">
    <vt:lpwstr>46F3DF44DE46450097408DC96C481B1F_12</vt:lpwstr>
  </property>
  <property fmtid="{D5CDD505-2E9C-101B-9397-08002B2CF9AE}" pid="7" name="KSOProductBuildVer">
    <vt:lpwstr>2052-12.1.0.26895</vt:lpwstr>
  </property>
</Properties>
</file>